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2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95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بادرة: رفيقة ثنائية اللغة للتوعية المبكرة بتسمّم الحمل، مبنية على الخطورة × الموثوقية × الوقت.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الخطاف: تسمّم الحمل شائع وخطير، لكن الوعي به منخفض جدًا — 27%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badira-ai.netlify.app/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2529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2130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333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0934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535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0136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9738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9339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940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8541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142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345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6946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6547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6148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750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95351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4952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-841248" y="-1097280"/>
            <a:ext cx="5486400" cy="5486400"/>
          </a:xfrm>
          <a:prstGeom prst="ellipse">
            <a:avLst/>
          </a:prstGeom>
          <a:solidFill>
            <a:srgbClr val="A796B5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-64008" y="-320040"/>
            <a:ext cx="3886200" cy="3886200"/>
          </a:xfrm>
          <a:prstGeom prst="ellipse">
            <a:avLst/>
          </a:prstGeom>
          <a:solidFill>
            <a:srgbClr val="A796B5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" y="384048"/>
            <a:ext cx="2487168" cy="2487168"/>
          </a:xfrm>
          <a:prstGeom prst="ellipse">
            <a:avLst/>
          </a:prstGeom>
          <a:solidFill>
            <a:srgbClr val="A796B5">
              <a:alpha val="16000"/>
            </a:srgbClr>
          </a:solidFill>
          <a:ln/>
        </p:spPr>
      </p:sp>
      <p:pic>
        <p:nvPicPr>
          <p:cNvPr id="26" name="Image 0" descr="/home/user/Start-Smart-Badira/src/assets/badira-mark-on-pl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281" y="827532"/>
            <a:ext cx="1084478" cy="160020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219895" y="4389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بادرة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3367735" y="182880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اعرفي مبكرًا.</a:t>
            </a:r>
            <a:endParaRPr lang="en-US" sz="3800" dirty="0"/>
          </a:p>
          <a:p>
            <a:pPr marL="0" indent="0" algn="r" rtl="1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وتصرّفي في الوقت المناسب.</a:t>
            </a:r>
            <a:endParaRPr lang="en-US" sz="3800" dirty="0"/>
          </a:p>
        </p:txBody>
      </p:sp>
      <p:sp>
        <p:nvSpPr>
          <p:cNvPr id="29" name="Text 26"/>
          <p:cNvSpPr txBox="1"/>
          <p:nvPr/>
        </p:nvSpPr>
        <p:spPr>
          <a:xfrm>
            <a:off x="4647895" y="3895344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35000"/>
              </a:lnSpc>
              <a:buNone/>
            </a:pPr>
            <a:r>
              <a:rPr lang="en-US" sz="15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رفيقة ثنائية اللغة للتوعية المبكرة بتسمّم الحمل — مبنيّة على الخطورة × الموثوقية × الوقت.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408615" y="5175504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A796B5">
              <a:alpha val="14000"/>
            </a:srgbClr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408615" y="51755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890711" y="517550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A796B5">
              <a:alpha val="14000"/>
            </a:srgbClr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890711" y="51755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الموثوقية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38567" y="5175504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A796B5">
              <a:alpha val="14000"/>
            </a:srgbClr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38567" y="51755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الوقت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85655" y="5852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4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BADIRA</a:t>
            </a:r>
            <a:endParaRPr 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AC8BA4-CFDA-6AA2-A655-7134F8858190}"/>
              </a:ext>
            </a:extLst>
          </p:cNvPr>
          <p:cNvSpPr txBox="1"/>
          <p:nvPr/>
        </p:nvSpPr>
        <p:spPr>
          <a:xfrm>
            <a:off x="1634744" y="5676557"/>
            <a:ext cx="258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Y" sz="1400" dirty="0">
                <a:solidFill>
                  <a:schemeClr val="bg1"/>
                </a:solidFill>
              </a:rPr>
              <a:t>فريق بادرة: دانة المنير و جودي الامام</a:t>
            </a:r>
          </a:p>
        </p:txBody>
      </p:sp>
      <p:pic>
        <p:nvPicPr>
          <p:cNvPr id="38" name="Picture 37" descr="StartSmart Saudi | ستارت سمارت السعودية (@startsmartsaudi) / X">
            <a:extLst>
              <a:ext uri="{FF2B5EF4-FFF2-40B4-BE49-F238E27FC236}">
                <a16:creationId xmlns:a16="http://schemas.microsoft.com/office/drawing/2014/main" id="{B18A5F1D-8988-FEEB-25A0-D1E8FD935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81" y="5293129"/>
            <a:ext cx="964387" cy="9643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2529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2130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333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0934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535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0136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9738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9339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940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8541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142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345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6946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6547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6148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750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95351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4952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لماذا الآن؟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91095" y="86868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0" b="1" dirty="0">
                <a:solidFill>
                  <a:srgbClr val="FC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2000" dirty="0"/>
          </a:p>
        </p:txBody>
      </p:sp>
      <p:sp>
        <p:nvSpPr>
          <p:cNvPr id="25" name="Text 23"/>
          <p:cNvSpPr txBox="1"/>
          <p:nvPr/>
        </p:nvSpPr>
        <p:spPr>
          <a:xfrm>
            <a:off x="5928055" y="261518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فقط من النساء لديهن وعي بتسمّم الحمل.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5928055" y="305409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مراجعة منهجية وتحليل بَعدي لـ 21 دراسة سعودية · Cureus 2025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596421" y="4069080"/>
            <a:ext cx="0" cy="1325880"/>
          </a:xfrm>
          <a:prstGeom prst="line">
            <a:avLst/>
          </a:prstGeom>
          <a:noFill/>
          <a:ln w="15875">
            <a:solidFill>
              <a:srgbClr val="6B57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51015" y="4023360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6751015" y="475488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35000"/>
              </a:lnSpc>
              <a:buNone/>
            </a:pPr>
            <a:r>
              <a:rPr lang="en-US" sz="13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من وفيات الأمهات حول العالم سببها اضطرابات ارتفاع ضغط الدم في الحمل.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51015" y="5358384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تحليل منهجي لمنظمة الصحة العالمية · Lancet Global Health 2025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84341" y="4069080"/>
            <a:ext cx="0" cy="1325880"/>
          </a:xfrm>
          <a:prstGeom prst="line">
            <a:avLst/>
          </a:prstGeom>
          <a:noFill/>
          <a:ln w="15875">
            <a:solidFill>
              <a:srgbClr val="6B578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38935" y="4023360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4.80%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1538935" y="475488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35000"/>
              </a:lnSpc>
              <a:buNone/>
            </a:pPr>
            <a:r>
              <a:rPr lang="en-US" sz="13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نسبة انتشار تسمّم الحمل المقدّرة في السعودية.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538935" y="5358384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المراجعة المنهجية نفسها · 21 دراسة سعودية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3367735" y="57972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حالة شائعة، وخطيرة — ومعروفة بأقل ممّا ينبغي.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تعريف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ما هو تسمّم الحمل؟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2529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1333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934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0535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0136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9738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9339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940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18541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8142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47345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6946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6547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6148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5750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5351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952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44775" y="640080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المصادر: منظمة الصحة العالمية · NICHD · ACOG · Cureus 2025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544775" y="12984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0000"/>
              </a:lnSpc>
              <a:buNone/>
            </a:pPr>
            <a:r>
              <a:rPr lang="en-US" sz="14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يُعرف طبيًا باسم «مقدمات الارتعاج». اضطراب يظهر أثناء الحمل، وقد يتطوّر دون أن تشعر به المرأة.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68335" y="1993392"/>
            <a:ext cx="3429000" cy="1874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241D2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701223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938967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176711" y="2249424"/>
            <a:ext cx="146304" cy="146304"/>
          </a:xfrm>
          <a:prstGeom prst="ellipse">
            <a:avLst/>
          </a:prstGeom>
          <a:solidFill>
            <a:srgbClr val="3B2F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42655" y="25786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ما هو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442655" y="30358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5000"/>
              </a:lnSpc>
              <a:buNone/>
            </a:pPr>
            <a:r>
              <a:rPr lang="en-US" sz="12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ارتفاع في ضغط الدم يظهر أثناء الحمل، مصحوبًا غالبًا بوجود بروتين في البول.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46727" y="1993392"/>
            <a:ext cx="3429000" cy="1874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241D2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79615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217359" y="2249424"/>
            <a:ext cx="146304" cy="146304"/>
          </a:xfrm>
          <a:prstGeom prst="ellipse">
            <a:avLst/>
          </a:prstGeom>
          <a:solidFill>
            <a:srgbClr val="3B2F45"/>
          </a:solidFill>
          <a:ln/>
        </p:spPr>
      </p:sp>
      <p:sp>
        <p:nvSpPr>
          <p:cNvPr id="36" name="Shape 34"/>
          <p:cNvSpPr/>
          <p:nvPr/>
        </p:nvSpPr>
        <p:spPr>
          <a:xfrm>
            <a:off x="7455103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21047" y="25786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متى يظهر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4721047" y="30358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5000"/>
              </a:lnSpc>
              <a:buNone/>
            </a:pPr>
            <a:r>
              <a:rPr lang="en-US" sz="12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عادةً بعد الأسبوع العشرين من الحمل. وقد يتطوّر تدريجيًا أو خلال ساعات.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25119" y="1993392"/>
            <a:ext cx="3429000" cy="187452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241D2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58007" y="2249424"/>
            <a:ext cx="146304" cy="146304"/>
          </a:xfrm>
          <a:prstGeom prst="ellipse">
            <a:avLst/>
          </a:prstGeom>
          <a:solidFill>
            <a:srgbClr val="3B2F45"/>
          </a:solidFill>
          <a:ln/>
        </p:spPr>
      </p:sp>
      <p:sp>
        <p:nvSpPr>
          <p:cNvPr id="41" name="Shape 39"/>
          <p:cNvSpPr/>
          <p:nvPr/>
        </p:nvSpPr>
        <p:spPr>
          <a:xfrm>
            <a:off x="3495751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33495" y="2249424"/>
            <a:ext cx="146304" cy="146304"/>
          </a:xfrm>
          <a:prstGeom prst="ellipse">
            <a:avLst/>
          </a:prstGeom>
          <a:solidFill>
            <a:srgbClr val="A796B5">
              <a:alpha val="4500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99439" y="257860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لماذا يصعب إدراكه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999439" y="303580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5000"/>
              </a:lnSpc>
              <a:buNone/>
            </a:pPr>
            <a:r>
              <a:rPr lang="en-US" sz="12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بعض النساء لا يلاحظن أي أعراض على الإطلاق — فلا شيء ينبّههن.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4360" y="4133088"/>
            <a:ext cx="11002975" cy="1536192"/>
          </a:xfrm>
          <a:prstGeom prst="roundRect">
            <a:avLst>
              <a:gd name="adj" fmla="val 11905"/>
            </a:avLst>
          </a:prstGeom>
          <a:solidFill>
            <a:srgbClr val="261E2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173175" y="431596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التوقيت حاسم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173175" y="460857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الوقاية الدوائية المبكرة لدى النساء عاليات الخطورة، إذا بدأت قبل الأسبوع 16، تخفض تسمّم الحمل المبكّر بأكثر من 60%.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173175" y="524865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لكنّ ذلك يفترض أن تكون الخطورة معروفة مبكرًا — وهنا يبدأ دور بادرة.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2529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2130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333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0934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535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0136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89738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9339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940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8541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142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47345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6946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665476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61488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7500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953512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49524" y="6419088"/>
            <a:ext cx="25400" cy="137160"/>
          </a:xfrm>
          <a:prstGeom prst="rect">
            <a:avLst/>
          </a:prstGeom>
          <a:solidFill>
            <a:srgbClr val="A796B5">
              <a:alpha val="3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الحل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ما هي بادرة؟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2544775" y="1316736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 تعطي بادرة رقمًا واحدًا. تعرض ثلاث قراءات منفصلة — لأن دمجها يخفي ما لا تعرفه.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544775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2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 ×  Reliability  ×  Time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68335" y="2267712"/>
            <a:ext cx="3429000" cy="2487168"/>
          </a:xfrm>
          <a:prstGeom prst="roundRect">
            <a:avLst>
              <a:gd name="adj" fmla="val 8088"/>
            </a:avLst>
          </a:prstGeom>
          <a:solidFill>
            <a:srgbClr val="312742"/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6698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9266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1834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4402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2" name="Shape 30"/>
          <p:cNvSpPr/>
          <p:nvPr/>
        </p:nvSpPr>
        <p:spPr>
          <a:xfrm>
            <a:off x="996970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3" name="Shape 31"/>
          <p:cNvSpPr/>
          <p:nvPr/>
        </p:nvSpPr>
        <p:spPr>
          <a:xfrm>
            <a:off x="969538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4" name="Shape 32"/>
          <p:cNvSpPr/>
          <p:nvPr/>
        </p:nvSpPr>
        <p:spPr>
          <a:xfrm>
            <a:off x="942106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5" name="Shape 33"/>
          <p:cNvSpPr/>
          <p:nvPr/>
        </p:nvSpPr>
        <p:spPr>
          <a:xfrm>
            <a:off x="914674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6" name="Shape 34"/>
          <p:cNvSpPr/>
          <p:nvPr/>
        </p:nvSpPr>
        <p:spPr>
          <a:xfrm>
            <a:off x="8872423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42655" y="28529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10454335" y="334670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0ECD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454335" y="33467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محاكاة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442655" y="37673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5000"/>
              </a:lnSpc>
              <a:buNone/>
            </a:pPr>
            <a:r>
              <a:rPr lang="en-US" sz="12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نتيجة أولوية الفحص المعروضة لهذا التقييم.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446727" y="2267712"/>
            <a:ext cx="3429000" cy="2487168"/>
          </a:xfrm>
          <a:prstGeom prst="roundRect">
            <a:avLst>
              <a:gd name="adj" fmla="val 8088"/>
            </a:avLst>
          </a:prstGeom>
          <a:solidFill>
            <a:srgbClr val="312742"/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45375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43" name="Shape 41"/>
          <p:cNvSpPr/>
          <p:nvPr/>
        </p:nvSpPr>
        <p:spPr>
          <a:xfrm>
            <a:off x="7071055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44" name="Shape 42"/>
          <p:cNvSpPr/>
          <p:nvPr/>
        </p:nvSpPr>
        <p:spPr>
          <a:xfrm>
            <a:off x="6796735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45" name="Shape 43"/>
          <p:cNvSpPr/>
          <p:nvPr/>
        </p:nvSpPr>
        <p:spPr>
          <a:xfrm>
            <a:off x="6522415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46" name="Shape 44"/>
          <p:cNvSpPr/>
          <p:nvPr/>
        </p:nvSpPr>
        <p:spPr>
          <a:xfrm>
            <a:off x="6248095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47" name="Shape 45"/>
          <p:cNvSpPr/>
          <p:nvPr/>
        </p:nvSpPr>
        <p:spPr>
          <a:xfrm>
            <a:off x="5973775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699455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425135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50815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4721047" y="28529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الموثوقية</a:t>
            </a:r>
            <a:endParaRPr lang="en-US" sz="1900" dirty="0"/>
          </a:p>
        </p:txBody>
      </p:sp>
      <p:sp>
        <p:nvSpPr>
          <p:cNvPr id="52" name="Shape 50"/>
          <p:cNvSpPr/>
          <p:nvPr/>
        </p:nvSpPr>
        <p:spPr>
          <a:xfrm>
            <a:off x="5726887" y="334670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3B2F4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726887" y="3346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5 متوفرة · 4 غير متوفرة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4721047" y="37673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5000"/>
              </a:lnSpc>
              <a:buNone/>
            </a:pPr>
            <a:r>
              <a:rPr lang="en-US" sz="12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مقدار ما توفّر من المعلومات التي طلبتها بادرة.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25119" y="2267712"/>
            <a:ext cx="3429000" cy="2487168"/>
          </a:xfrm>
          <a:prstGeom prst="roundRect">
            <a:avLst>
              <a:gd name="adj" fmla="val 8088"/>
            </a:avLst>
          </a:prstGeom>
          <a:solidFill>
            <a:srgbClr val="312742"/>
          </a:solidFill>
          <a:ln w="9525">
            <a:solidFill>
              <a:srgbClr val="6B57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2376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334944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307512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80080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526487" y="2542032"/>
            <a:ext cx="182880" cy="146304"/>
          </a:xfrm>
          <a:prstGeom prst="rect">
            <a:avLst/>
          </a:prstGeom>
          <a:solidFill>
            <a:srgbClr val="F3E3E3"/>
          </a:solidFill>
          <a:ln/>
        </p:spPr>
      </p:sp>
      <p:sp>
        <p:nvSpPr>
          <p:cNvPr id="61" name="Shape 59"/>
          <p:cNvSpPr/>
          <p:nvPr/>
        </p:nvSpPr>
        <p:spPr>
          <a:xfrm>
            <a:off x="225216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97784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70352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429207" y="2542032"/>
            <a:ext cx="182880" cy="146304"/>
          </a:xfrm>
          <a:prstGeom prst="rect">
            <a:avLst/>
          </a:prstGeom>
          <a:solidFill>
            <a:srgbClr val="6B5780">
              <a:alpha val="55000"/>
            </a:srgbClr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99439" y="28529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الوقت</a:t>
            </a:r>
            <a:endParaRPr lang="en-US" sz="1900" dirty="0"/>
          </a:p>
        </p:txBody>
      </p:sp>
      <p:sp>
        <p:nvSpPr>
          <p:cNvPr id="66" name="Shape 64"/>
          <p:cNvSpPr/>
          <p:nvPr/>
        </p:nvSpPr>
        <p:spPr>
          <a:xfrm>
            <a:off x="2005279" y="334670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3B2F45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2005279" y="3346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بحسب مرحلة الحمل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999439" y="37673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5000"/>
              </a:lnSpc>
              <a:buNone/>
            </a:pPr>
            <a:r>
              <a:rPr lang="en-US" sz="1200" dirty="0">
                <a:solidFill>
                  <a:srgbClr val="F3E3E3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موضع هذا التقييم في مسار الحمل، وفق التوقيت المسجّل.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100584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26187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51790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77393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202996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228600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254203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279806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05409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331012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56616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382219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407822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33425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459028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484632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510235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535838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561441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587044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612648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638251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663854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689457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715060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740664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766267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791870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17473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43076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68680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894283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919886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945489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971092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9966960" y="5084064"/>
            <a:ext cx="25400" cy="210312"/>
          </a:xfrm>
          <a:prstGeom prst="rect">
            <a:avLst/>
          </a:prstGeom>
          <a:solidFill>
            <a:srgbClr val="A796B5">
              <a:alpha val="6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22992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0479024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10735056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0991088" y="5138928"/>
            <a:ext cx="25400" cy="155448"/>
          </a:xfrm>
          <a:prstGeom prst="rect">
            <a:avLst/>
          </a:prstGeom>
          <a:solidFill>
            <a:srgbClr val="A796B5">
              <a:alpha val="42000"/>
            </a:srgbClr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1538935" y="544982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مرحلة الحمل · 40 أسبوعًا</a:t>
            </a:r>
            <a:endParaRPr lang="en-US" sz="950" dirty="0"/>
          </a:p>
        </p:txBody>
      </p:sp>
      <p:sp>
        <p:nvSpPr>
          <p:cNvPr id="110" name="Text 108"/>
          <p:cNvSpPr txBox="1"/>
          <p:nvPr/>
        </p:nvSpPr>
        <p:spPr>
          <a:xfrm>
            <a:off x="1538935" y="58155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مستوى الخطورة في النموذج الأولي نتيجة محاكاة ثابتة للعرض، وليست تنبؤًا سريريًا معتمدًا.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المشهد التنافسي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الموقع التنافسي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2529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1333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934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0535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0136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9738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9339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940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18541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8142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47345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6946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6547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6148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5750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5351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952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44775" y="640080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المصدر: مقارنة بادرة بأبرز ثلاثة منافسين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544775" y="1298448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المنصات الأوسع تغطّي الحمل كلّه. بادرة تركّز على قرار واحد — وتقول بوضوح ما لا تعرفه.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27855" y="1993392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ECE6E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01007" y="1993392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Materna BP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80767" y="1993392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ECE6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553919" y="1993392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Nabta Health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3679" y="1993392"/>
            <a:ext cx="1737360" cy="438912"/>
          </a:xfrm>
          <a:prstGeom prst="roundRect">
            <a:avLst>
              <a:gd name="adj" fmla="val 20833"/>
            </a:avLst>
          </a:prstGeom>
          <a:solidFill>
            <a:srgbClr val="ECE6E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06831" y="1993392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صحتي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39535" y="1865376"/>
            <a:ext cx="2697480" cy="3511296"/>
          </a:xfrm>
          <a:prstGeom prst="roundRect">
            <a:avLst>
              <a:gd name="adj" fmla="val 7458"/>
            </a:avLst>
          </a:prstGeom>
          <a:solidFill>
            <a:srgbClr val="3B2F45"/>
          </a:solidFill>
          <a:ln/>
          <a:effectLst>
            <a:outerShdw blurRad="279400" dist="63500" dir="5400000" algn="bl" rotWithShape="0">
              <a:srgbClr val="241D2A">
                <a:alpha val="2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339535" y="199339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9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بادرة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9219895" y="25420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التركيز الأساسي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327855" y="2542032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01007" y="254203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ارتفاع الضغط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80767" y="2542032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553919" y="254203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صحة المرأة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3679" y="2542032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6831" y="2542032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الرعاية الوطنية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476695" y="254203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تسمّم الحمل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751015" y="3218688"/>
            <a:ext cx="1874520" cy="0"/>
          </a:xfrm>
          <a:prstGeom prst="line">
            <a:avLst/>
          </a:prstGeom>
          <a:noFill/>
          <a:ln w="9525">
            <a:solidFill>
              <a:srgbClr val="6B578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19895" y="32552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طبقة موثوقية معلنة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4327855" y="3255264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01007" y="325526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غير موضّحة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480767" y="3255264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553919" y="325526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ليست جوهرية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3679" y="3255264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06831" y="3255264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غير مخصّصة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476695" y="3255264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عامل تمايز أساسي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751015" y="3931920"/>
            <a:ext cx="1874520" cy="0"/>
          </a:xfrm>
          <a:prstGeom prst="line">
            <a:avLst/>
          </a:prstGeom>
          <a:noFill/>
          <a:ln w="9525">
            <a:solidFill>
              <a:srgbClr val="6B578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219895" y="396849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 × الموثوقية × الوقت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4327855" y="3968496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401007" y="396849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480767" y="3968496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553919" y="396849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3679" y="3968496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06831" y="396849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لا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6476695" y="3968496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نعم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751015" y="4645152"/>
            <a:ext cx="1874520" cy="0"/>
          </a:xfrm>
          <a:prstGeom prst="line">
            <a:avLst/>
          </a:prstGeom>
          <a:noFill/>
          <a:ln w="9525">
            <a:solidFill>
              <a:srgbClr val="6B578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219895" y="4681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السياق العربي واللغة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4327855" y="4681728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401007" y="468172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عالمي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2480767" y="4681728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553919" y="468172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إقليمي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33679" y="4681728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7E1E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06831" y="4681728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عربي + إنجليزي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6476695" y="468172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5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ثنائية اللغة بالتصميم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594360" y="5632704"/>
            <a:ext cx="11002975" cy="365760"/>
          </a:xfrm>
          <a:prstGeom prst="roundRect">
            <a:avLst>
              <a:gd name="adj" fmla="val 25000"/>
            </a:avLst>
          </a:prstGeom>
          <a:solidFill>
            <a:srgbClr val="F3E3E3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22960" y="5632704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التموضع: رفيقة متخصّصة للتوعية المبكرة — لا بديل شامل عن الرعاية السريرية.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لماذا بادرة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لماذا تُختار بادرة؟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2529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1333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934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0535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0136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9738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9339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940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18541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8142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47345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6946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6547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6148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5750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5351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952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44775" y="640080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المصدر: نموذج عمل بادرة + مقارنة المنافسين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544775" y="1298448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ميزة بادرة ليست «مزايا أكثر»، بل إطار مركَّز وصادق مبني حول التوعية المبكرة للمرأة السعودية والعربية.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22415" y="2011680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241D2A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820095" y="21762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٠١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15023" y="214884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مركَّزة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15023" y="2542032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التوعية بتسمّم الحمل هي الغرض الأساسي — لا ميزة واحدة داخل منصة واسعة.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90295" y="2011680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241D2A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287975" y="21762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٠٢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82903" y="214884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صادقة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282903" y="2542032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الموثوقية ظاهرة؛ والمعلومات الناقصة تستدعي أسئلة بدل يقين زائف.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22415" y="3602736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241D2A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10820095" y="37673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٠٣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15023" y="37398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محلّية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815023" y="4133088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التواصل بالعربية والإنجليزية والسياق السعودي جزء من تصميم المنتج.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90295" y="3602736"/>
            <a:ext cx="5074920" cy="1408176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241D2A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287975" y="37673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٠٤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282903" y="37398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موجّهة للفعل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282903" y="4133088"/>
            <a:ext cx="4489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0000"/>
              </a:lnSpc>
              <a:buNone/>
            </a:pPr>
            <a:r>
              <a:rPr lang="en-US" sz="1150" dirty="0">
                <a:solidFill>
                  <a:srgbClr val="5E5566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تربط المخرجات بين الخطورة والتوقيت في ملخّص موجز يُشارَك مع مختص.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819095" y="5358384"/>
            <a:ext cx="8778240" cy="566928"/>
          </a:xfrm>
          <a:prstGeom prst="roundRect">
            <a:avLst>
              <a:gd name="adj" fmla="val 25806"/>
            </a:avLst>
          </a:prstGeom>
          <a:solidFill>
            <a:srgbClr val="E1EBE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819095" y="535838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b="1" dirty="0">
                <a:solidFill>
                  <a:srgbClr val="3B2F4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الخطورة  ×  الموثوقية  ×  الوقت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91095" y="3657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العرض التوضيحي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76656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بادرة، كما تعمل فعليًا.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2529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1333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0934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0535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0136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9738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9339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940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18541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8142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47345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6946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665476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61488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57500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53512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49524" y="6437376"/>
            <a:ext cx="25400" cy="137160"/>
          </a:xfrm>
          <a:prstGeom prst="rect">
            <a:avLst/>
          </a:prstGeom>
          <a:solidFill>
            <a:srgbClr val="A796B5">
              <a:alpha val="4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44775" y="640080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العرض التوضيحي: badira-ai.netlify.app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" y="1316736"/>
            <a:ext cx="4754880" cy="4626864"/>
          </a:xfrm>
          <a:prstGeom prst="roundRect">
            <a:avLst>
              <a:gd name="adj" fmla="val 4743"/>
            </a:avLst>
          </a:prstGeom>
          <a:solidFill>
            <a:srgbClr val="EFE7EC"/>
          </a:solidFill>
          <a:ln/>
        </p:spPr>
      </p:sp>
      <p:pic>
        <p:nvPicPr>
          <p:cNvPr id="27" name="Image 0" descr="/tmp/claude-0/-home-user-Start-Smart-Badira/8e0a3e72-a796-5a6f-b1d5-1e7d2e3f1245/scratchpad/arppt/shots/ar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216" y="1517904"/>
            <a:ext cx="1808432" cy="3913632"/>
          </a:xfrm>
          <a:prstGeom prst="rect">
            <a:avLst/>
          </a:prstGeom>
          <a:effectLst>
            <a:outerShdw blurRad="177800" dist="50800" dir="5400000" algn="bl" rotWithShape="0">
              <a:srgbClr val="241D2A">
                <a:alpha val="18000"/>
              </a:srgbClr>
            </a:outerShdw>
          </a:effectLst>
        </p:spPr>
      </p:pic>
      <p:pic>
        <p:nvPicPr>
          <p:cNvPr id="28" name="Image 1" descr="/tmp/claude-0/-home-user-Start-Smart-Badira/8e0a3e72-a796-5a6f-b1d5-1e7d2e3f1245/scratchpad/arppt/shots/ar-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517904"/>
            <a:ext cx="1808432" cy="3913632"/>
          </a:xfrm>
          <a:prstGeom prst="rect">
            <a:avLst/>
          </a:prstGeom>
          <a:effectLst>
            <a:outerShdw blurRad="177800" dist="50800" dir="5400000" algn="bl" rotWithShape="0">
              <a:srgbClr val="241D2A">
                <a:alpha val="18000"/>
              </a:srgbClr>
            </a:outerShdw>
          </a:effectLst>
        </p:spPr>
      </p:pic>
      <p:sp>
        <p:nvSpPr>
          <p:cNvPr id="29" name="Text 25"/>
          <p:cNvSpPr txBox="1"/>
          <p:nvPr/>
        </p:nvSpPr>
        <p:spPr>
          <a:xfrm>
            <a:off x="658368" y="5559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النموذج الأولي الحيّ — بالعربية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11012119" y="1499616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11012119" y="149961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١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6449263" y="15179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تأكيد السياق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6449263" y="18836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0000"/>
              </a:lnSpc>
              <a:buNone/>
            </a:pPr>
            <a:r>
              <a:rPr lang="en-US" sz="11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أسبوع الحمل، والتاريخ الصحي، والأعراض، والقياسات.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11012119" y="2743200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11012119" y="27432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٢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449263" y="27614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بدء التقييم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6449263" y="3127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0000"/>
              </a:lnSpc>
              <a:buNone/>
            </a:pPr>
            <a:r>
              <a:rPr lang="en-US" sz="11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تقيّم بادرة الخطورة × الموثوقية × الوقت معًا.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11012119" y="3986784"/>
            <a:ext cx="585216" cy="585216"/>
          </a:xfrm>
          <a:prstGeom prst="roundRect">
            <a:avLst>
              <a:gd name="adj" fmla="val 25000"/>
            </a:avLst>
          </a:prstGeom>
          <a:solidFill>
            <a:srgbClr val="3B2F45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1012119" y="39867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٣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6449263" y="40050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241D2A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التصرّف بوضوح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6449263" y="4370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40000"/>
              </a:lnSpc>
              <a:buNone/>
            </a:pPr>
            <a:r>
              <a:rPr lang="en-US" sz="115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مراجعة النتيجة ومشاركة ملخّص منظّم مع مختص الرعاية الصحية.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6613855" y="5285232"/>
            <a:ext cx="4983480" cy="566928"/>
          </a:xfrm>
          <a:prstGeom prst="roundRect">
            <a:avLst>
              <a:gd name="adj" fmla="val 25806"/>
            </a:avLst>
          </a:prstGeom>
          <a:solidFill>
            <a:srgbClr val="3B2F45"/>
          </a:solidFill>
          <a:ln/>
        </p:spPr>
      </p:sp>
      <p:sp>
        <p:nvSpPr>
          <p:cNvPr id="43" name="Text 39">
            <a:hlinkClick r:id="rId5"/>
          </p:cNvPr>
          <p:cNvSpPr txBox="1"/>
          <p:nvPr/>
        </p:nvSpPr>
        <p:spPr>
          <a:xfrm>
            <a:off x="6613855" y="52852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u="sng" dirty="0">
                <a:solidFill>
                  <a:srgbClr val="FCFAF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افتح العرض التوضيحي لبادرة  ←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6613855" y="592531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6E6478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ليست تشخيصًا. تدعم بادرة الوعي المبكر.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252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4996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739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482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225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968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8712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1455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198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6941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9684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2428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171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914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657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400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6144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887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1630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373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116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9860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603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5346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8089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0832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576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6319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9062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805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4548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7292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0353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27785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55217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82649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100816" y="6419088"/>
            <a:ext cx="25400" cy="146304"/>
          </a:xfrm>
          <a:prstGeom prst="rect">
            <a:avLst/>
          </a:prstGeom>
          <a:solidFill>
            <a:srgbClr val="A796B5">
              <a:alpha val="66000"/>
            </a:srgb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745175" y="8412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A796B5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الوعي المبكر يبدأ بمعرفة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842455" y="133502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5000" dirty="0"/>
          </a:p>
        </p:txBody>
      </p:sp>
      <p:sp>
        <p:nvSpPr>
          <p:cNvPr id="42" name="Text 40"/>
          <p:cNvSpPr txBox="1"/>
          <p:nvPr/>
        </p:nvSpPr>
        <p:spPr>
          <a:xfrm>
            <a:off x="3995143" y="3369565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Y" sz="4800" dirty="0">
                <a:solidFill>
                  <a:schemeClr val="bg1"/>
                </a:solidFill>
              </a:rPr>
              <a:t>شكرا</a:t>
            </a:r>
            <a:r>
              <a:rPr lang="ar-SY" sz="4800" dirty="0"/>
              <a:t> </a:t>
            </a:r>
            <a:r>
              <a:rPr lang="ar-SY" sz="4800" dirty="0">
                <a:solidFill>
                  <a:schemeClr val="bg1"/>
                </a:solidFill>
              </a:rPr>
              <a:t>لكم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037015" y="4261104"/>
            <a:ext cx="2560320" cy="0"/>
          </a:xfrm>
          <a:prstGeom prst="line">
            <a:avLst/>
          </a:prstGeom>
          <a:noFill/>
          <a:ln w="15875">
            <a:solidFill>
              <a:srgbClr val="6B5780"/>
            </a:solidFill>
            <a:prstDash val="solid"/>
          </a:ln>
        </p:spPr>
      </p:sp>
      <p:pic>
        <p:nvPicPr>
          <p:cNvPr id="44" name="Image 0" descr="/home/user/Start-Smart-Badira/src/assets/badira-mark-on-pl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4103" y="4535424"/>
            <a:ext cx="713232" cy="1051560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2499055" y="4754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FC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BADIRA | بادرة</a:t>
            </a:r>
            <a:endParaRPr lang="en-US" sz="5200" dirty="0"/>
          </a:p>
        </p:txBody>
      </p:sp>
      <p:sp>
        <p:nvSpPr>
          <p:cNvPr id="48" name="Text 45"/>
          <p:cNvSpPr txBox="1"/>
          <p:nvPr/>
        </p:nvSpPr>
        <p:spPr>
          <a:xfrm>
            <a:off x="1173175" y="62727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6B5780"/>
                </a:solidFill>
                <a:latin typeface="Noto Kufi Arabic" pitchFamily="34" charset="0"/>
                <a:ea typeface="Noto Kufi Arabic" pitchFamily="34" charset="-122"/>
                <a:cs typeface="Noto Kufi Arabic" pitchFamily="34" charset="-120"/>
              </a:rPr>
              <a:t>بادرة أداة للتوعية وترتيب أولويات الفحص. ليست أداة تشخيص ولا بديلاً عن التقييم الطبي المختص.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66928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660</Words>
  <Application>Microsoft Office PowerPoint</Application>
  <PresentationFormat>Widescreen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Noto Kufi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بادرة — عرض تقديمي</dc:title>
  <dc:subject>PptxGenJS Presentation</dc:subject>
  <dc:creator>BADIRA</dc:creator>
  <cp:lastModifiedBy>dana mounayer</cp:lastModifiedBy>
  <cp:revision>2</cp:revision>
  <dcterms:created xsi:type="dcterms:W3CDTF">2026-09-17T01:16:05Z</dcterms:created>
  <dcterms:modified xsi:type="dcterms:W3CDTF">2026-09-17T01:36:53Z</dcterms:modified>
</cp:coreProperties>
</file>