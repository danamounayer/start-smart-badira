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Tajawal" panose="020B0604020202020204" charset="-78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1B0D9-0E72-4F5F-85D2-E69152000879}" v="20" dt="2026-09-15T09:10:55.284"/>
    <p1510:client id="{CBD902A7-2819-41EB-8BC7-9E0E779713D8}" v="15" dt="2026-09-15T14:37:52.042"/>
    <p1510:client id="{F07292D7-DFA2-43C7-AAE2-4980E89FD757}" v="260" dt="2026-09-15T08:59:35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c787fb8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f8c787fb85_0_58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" name="Google Shape;54;g3f8c787fb85_0_58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c787fb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f8c787fb85_0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5 دقائق. المعيار الثالث هو الذي يمنع الانحراف عن مشكلة الأمس — أكّد عليه أكثر من المصفوفة.</a:t>
            </a:r>
            <a:endParaRPr/>
          </a:p>
        </p:txBody>
      </p:sp>
      <p:sp>
        <p:nvSpPr>
          <p:cNvPr id="67" name="Google Shape;67;g3f8c787fb85_0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c787fb8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f8c787fb85_0_9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 دقيقة. الخانتان 4 و 6 هما ما يسأل عنه المدربون في جولة التغذية الراجعة الليلة.</a:t>
            </a:r>
            <a:endParaRPr/>
          </a:p>
        </p:txBody>
      </p:sp>
      <p:sp>
        <p:nvSpPr>
          <p:cNvPr id="96" name="Google Shape;96;g3f8c787fb85_0_9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 descr="/root/uc_deck/assets/uc_ic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206" y="288038"/>
            <a:ext cx="1300546" cy="3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377200" y="630936"/>
            <a:ext cx="83895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D400"/>
              </a:buClr>
              <a:buSzPts val="1100"/>
              <a:buFont typeface="Tajaw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14"/>
          <p:cNvCxnSpPr/>
          <p:nvPr/>
        </p:nvCxnSpPr>
        <p:spPr>
          <a:xfrm>
            <a:off x="377200" y="905256"/>
            <a:ext cx="8389500" cy="0"/>
          </a:xfrm>
          <a:prstGeom prst="straightConnector1">
            <a:avLst/>
          </a:prstGeom>
          <a:noFill/>
          <a:ln w="11900" cap="flat" cmpd="sng">
            <a:solidFill>
              <a:srgbClr val="AAD4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4"/>
          <p:cNvSpPr/>
          <p:nvPr/>
        </p:nvSpPr>
        <p:spPr>
          <a:xfrm>
            <a:off x="420075" y="1175454"/>
            <a:ext cx="8389500" cy="3217800"/>
          </a:xfrm>
          <a:prstGeom prst="roundRect">
            <a:avLst>
              <a:gd name="adj" fmla="val 8889"/>
            </a:avLst>
          </a:prstGeom>
          <a:solidFill>
            <a:srgbClr val="0F2340"/>
          </a:solidFill>
          <a:ln w="9525" cap="flat" cmpd="sng">
            <a:solidFill>
              <a:srgbClr val="8C9BB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المستخدمة تجيب عن 5–7 أسئلة أساسية للحصول على تقييم سريع.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الإجابة بالضغط على خيارات واضحة بدلًا من الكتابة.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ربط بادرة بتطبيقات الصحة أو الأجهزة القابلة للارتداء للاستفادة من البيانات المتاحة تلقائيًا.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تشرح المستخدمة حالتها صوتيًا بدلًا من كتابة الأعراض والتفاصيل.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اختيار الأعراض من شاشة واضحة وتحديد شدتها باستخدام مقياس بسيط.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تظهر النتيجة الأساسية بسرعة وبشكل مختصر، مع إمكانية فتح تقرير أكثر تفصيلًا.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زر مباشر لمشاركة التقرير المنظم مع الطبيب.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تتغير الأسئلة حسب الإجابات السابقة، ويتم تخطي الأسئلة غير المرتبطة بالحالة. </a:t>
            </a:r>
            <a:endParaRPr lang="en-US" dirty="0"/>
          </a:p>
          <a:p>
            <a:pPr algn="r"/>
            <a:r>
              <a:rPr lang="ar-AE" dirty="0">
                <a:solidFill>
                  <a:schemeClr val="bg1"/>
                </a:solidFill>
                <a:latin typeface="Tajawal"/>
                <a:cs typeface="Tajawal"/>
              </a:rPr>
              <a:t>إنشاء ملف للحمل يحفظ التاريخ الصحي والمعلومات السابقة، بحيث لا تضطر المستخدمة إلى إدخالها من جديد في كل مرة.</a:t>
            </a:r>
            <a:endParaRPr lang="en-US" dirty="0"/>
          </a:p>
          <a:p>
            <a:pPr algn="r">
              <a:buFont typeface=""/>
            </a:pPr>
            <a:endParaRPr lang="ar-AE" dirty="0">
              <a:solidFill>
                <a:schemeClr val="bg1"/>
              </a:solidFill>
              <a:latin typeface="Tajawal"/>
              <a:cs typeface="Tajaw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77200" y="4690872"/>
            <a:ext cx="8389500" cy="342900"/>
          </a:xfrm>
          <a:prstGeom prst="roundRect">
            <a:avLst>
              <a:gd name="adj" fmla="val 16000"/>
            </a:avLst>
          </a:prstGeom>
          <a:solidFill>
            <a:srgbClr val="1E4B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514364" y="4690872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jaw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77200" y="240030"/>
            <a:ext cx="8389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ajawal"/>
              <a:buNone/>
            </a:pPr>
            <a:r>
              <a:rPr lang="en" sz="21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١٠ أفكار باستخدام تقنيات توليد الأفكار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380075" y="1515697"/>
            <a:ext cx="8389500" cy="29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ajawal"/>
              <a:buAutoNum type="arabicPeriod"/>
            </a:pPr>
            <a:endParaRPr sz="1300">
              <a:solidFill>
                <a:schemeClr val="lt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6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6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قياس الأثر و الجهد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103349" y="678942"/>
            <a:ext cx="6583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900"/>
              <a:buFont typeface="Tajawal"/>
              <a:buNone/>
            </a:pP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مصفوفة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الأثر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en" sz="1000" b="0" i="1" u="none" strike="noStrike" cap="none" dirty="0" err="1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والجهد</a:t>
            </a:r>
            <a:r>
              <a:rPr lang="en" sz="1000" b="0" i="1" u="none" strike="noStrike" cap="none" dirty="0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endParaRPr lang="en" sz="1000" b="0" i="1" u="none" strike="noStrike" cap="none" dirty="0">
              <a:solidFill>
                <a:srgbClr val="AEDB0B"/>
              </a:solidFill>
              <a:latin typeface="Tajawal"/>
              <a:ea typeface="Tajawal"/>
              <a:cs typeface="Tajawal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15"/>
          <p:cNvSpPr/>
          <p:nvPr/>
        </p:nvSpPr>
        <p:spPr>
          <a:xfrm>
            <a:off x="3920719" y="1207008"/>
            <a:ext cx="4766400" cy="2777400"/>
          </a:xfrm>
          <a:prstGeom prst="roundRect">
            <a:avLst>
              <a:gd name="adj" fmla="val 741"/>
            </a:avLst>
          </a:prstGeom>
          <a:solidFill>
            <a:srgbClr val="070C11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697254" y="1306759"/>
            <a:ext cx="2792400" cy="1585800"/>
          </a:xfrm>
          <a:prstGeom prst="roundRect">
            <a:avLst>
              <a:gd name="adj" fmla="val 1575"/>
            </a:avLst>
          </a:prstGeom>
          <a:solidFill>
            <a:srgbClr val="10202F"/>
          </a:solidFill>
          <a:ln w="11550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225" tIns="83225" rIns="83225" bIns="83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endParaRPr sz="13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47074" y="1271134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1578"/>
              <a:buFont typeface="Tajawal"/>
              <a:buNone/>
            </a:pPr>
            <a:r>
              <a:rPr lang="en" sz="1378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ابدأوا هنا</a:t>
            </a:r>
            <a:endParaRPr sz="1378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847074" y="1466443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214"/>
              <a:buFont typeface="Tajawal"/>
              <a:buNone/>
            </a:pPr>
            <a:r>
              <a:rPr lang="en" sz="1135" b="1" i="0" u="none" strike="noStrike" cap="none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أثر عالٍ • جهد منخفض</a:t>
            </a:r>
            <a:endParaRPr sz="1135" b="1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804896" y="1306759"/>
            <a:ext cx="2792400" cy="1585800"/>
          </a:xfrm>
          <a:prstGeom prst="roundRect">
            <a:avLst>
              <a:gd name="adj" fmla="val 1575"/>
            </a:avLst>
          </a:prstGeom>
          <a:solidFill>
            <a:srgbClr val="0B1219"/>
          </a:solidFill>
          <a:ln w="11550" cap="flat" cmpd="sng">
            <a:solidFill>
              <a:srgbClr val="12E5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225" tIns="83225" rIns="83225" bIns="83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endParaRPr sz="1335" b="0" i="0" u="none" strike="noStrike" cap="none">
              <a:solidFill>
                <a:srgbClr val="000000"/>
              </a:solidFill>
              <a:highlight>
                <a:srgbClr val="12E5F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954716" y="1271134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578"/>
              <a:buFont typeface="Tajawal"/>
              <a:buNone/>
            </a:pPr>
            <a:r>
              <a:rPr lang="en" sz="1378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مشاريع كبيرة</a:t>
            </a:r>
            <a:endParaRPr sz="1378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954716" y="1466443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214"/>
              <a:buFont typeface="Tajawal"/>
              <a:buNone/>
            </a:pPr>
            <a:r>
              <a:rPr lang="en" sz="1135" b="1" i="0" u="none" strike="noStrike" cap="none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أثر عالٍ • جهد عالٍ</a:t>
            </a:r>
            <a:endParaRPr sz="1135" b="1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697254" y="2992239"/>
            <a:ext cx="2792400" cy="1585800"/>
          </a:xfrm>
          <a:prstGeom prst="roundRect">
            <a:avLst>
              <a:gd name="adj" fmla="val 1575"/>
            </a:avLst>
          </a:prstGeom>
          <a:solidFill>
            <a:srgbClr val="0B1219"/>
          </a:solidFill>
          <a:ln w="115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225" tIns="83225" rIns="83225" bIns="83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endParaRPr sz="13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847074" y="2956614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99"/>
              </a:buClr>
              <a:buSzPts val="1578"/>
              <a:buFont typeface="Tajawal"/>
              <a:buNone/>
            </a:pPr>
            <a:r>
              <a:rPr lang="en" sz="1378" b="1" i="0" u="none" strike="noStrike" cap="none">
                <a:solidFill>
                  <a:srgbClr val="FF9900"/>
                </a:solidFill>
                <a:latin typeface="Tajawal"/>
                <a:ea typeface="Tajawal"/>
                <a:cs typeface="Tajawal"/>
                <a:sym typeface="Tajawal"/>
              </a:rPr>
              <a:t>تحسينات صغيرة</a:t>
            </a:r>
            <a:endParaRPr sz="1378" b="0" i="0" u="none" strike="noStrike" cap="none">
              <a:solidFill>
                <a:srgbClr val="FF9900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847074" y="3151922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214"/>
              <a:buFont typeface="Tajawal"/>
              <a:buNone/>
            </a:pPr>
            <a:r>
              <a:rPr lang="en" sz="1135" b="1" i="0" u="none" strike="noStrike" cap="none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أثر منخفض • جهد منخفض</a:t>
            </a:r>
            <a:endParaRPr sz="1135" b="1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804896" y="2992239"/>
            <a:ext cx="2792400" cy="1585800"/>
          </a:xfrm>
          <a:prstGeom prst="roundRect">
            <a:avLst>
              <a:gd name="adj" fmla="val 1575"/>
            </a:avLst>
          </a:prstGeom>
          <a:solidFill>
            <a:srgbClr val="0B1219"/>
          </a:solidFill>
          <a:ln w="115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225" tIns="83225" rIns="83225" bIns="83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endParaRPr sz="13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954716" y="2956614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578"/>
              <a:buFont typeface="Tajawal"/>
              <a:buNone/>
            </a:pPr>
            <a:r>
              <a:rPr lang="en" sz="1378" b="1" i="0" u="none" strike="noStrike" cap="none">
                <a:solidFill>
                  <a:srgbClr val="FF6B6B"/>
                </a:solidFill>
                <a:latin typeface="Tajawal"/>
                <a:ea typeface="Tajawal"/>
                <a:cs typeface="Tajawal"/>
                <a:sym typeface="Tajawal"/>
              </a:rPr>
              <a:t>تجنّبوها</a:t>
            </a:r>
            <a:endParaRPr sz="1378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947294" y="3151922"/>
            <a:ext cx="24933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DD5"/>
              </a:buClr>
              <a:buSzPts val="1214"/>
              <a:buFont typeface="Tajawal"/>
              <a:buNone/>
            </a:pPr>
            <a:r>
              <a:rPr lang="en" sz="1135" b="1" i="0" u="none" strike="noStrike" cap="none">
                <a:solidFill>
                  <a:srgbClr val="C4CDD5"/>
                </a:solidFill>
                <a:latin typeface="Tajawal"/>
                <a:ea typeface="Tajawal"/>
                <a:cs typeface="Tajawal"/>
                <a:sym typeface="Tajawal"/>
              </a:rPr>
              <a:t>أثر منخفض • جهد عالٍ</a:t>
            </a:r>
            <a:endParaRPr sz="1135" b="1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1787725" y="973825"/>
            <a:ext cx="57849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99"/>
              </a:buClr>
              <a:buSzPts val="1092"/>
              <a:buFont typeface="Tajawal"/>
              <a:buNone/>
            </a:pPr>
            <a:r>
              <a:rPr lang="en" sz="1214" b="1" i="0" u="none" strike="noStrike" cap="none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الأثر على المستخدم يزداد كلما اتجهنا للأعلى</a:t>
            </a:r>
            <a:endParaRPr sz="1214" b="1" i="0" u="none" strike="noStrike" cap="none">
              <a:solidFill>
                <a:schemeClr val="lt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787725" y="4677719"/>
            <a:ext cx="57849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99"/>
              </a:buClr>
              <a:buSzPts val="1092"/>
              <a:buFont typeface="Tajawal"/>
              <a:buNone/>
            </a:pPr>
            <a:r>
              <a:rPr lang="en" sz="1214" b="1" i="0" u="none" strike="noStrike" cap="none">
                <a:solidFill>
                  <a:schemeClr val="lt1"/>
                </a:solidFill>
                <a:latin typeface="Tajawal"/>
                <a:ea typeface="Tajawal"/>
                <a:cs typeface="Tajawal"/>
                <a:sym typeface="Tajawal"/>
              </a:rPr>
              <a:t>الجهد المطلوب يزداد كلما اتجهنا لليسار</a:t>
            </a:r>
            <a:endParaRPr sz="1214" b="1" i="0" u="none" strike="noStrike" cap="none">
              <a:solidFill>
                <a:schemeClr val="lt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1706610" y="3413688"/>
            <a:ext cx="2864396" cy="40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بناء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جهاز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طبي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أو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Wearable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خاص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ببادرة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-US" sz="90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استشارة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طبية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مباشرة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24/7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داخل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التطبيق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sz="900">
              <a:solidFill>
                <a:schemeClr val="lt1"/>
              </a:solidFill>
            </a:endParaRPr>
          </a:p>
          <a:p>
            <a:pPr algn="r" rtl="1"/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بناء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سجل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طبي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متكامل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من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الصفر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sz="900">
              <a:solidFill>
                <a:schemeClr val="lt1"/>
              </a:solidFill>
            </a:endParaRPr>
          </a:p>
          <a:p>
            <a:pPr algn="r" rtl="1"/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خصائص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صحية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عامة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خارج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نطاق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تسمم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sz="900">
              <a:solidFill>
                <a:schemeClr val="lt1"/>
              </a:solidFill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" sz="900" b="1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848497" y="3389747"/>
            <a:ext cx="2500714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بطاقات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للإجابة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بالضغط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بدل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الكتابة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-US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اختيار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الأعراض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بطريقة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سهلة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وواضحة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تخطي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الأسئلة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غير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المرتبطة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تلقائيًا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عرض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تفاصيل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إضافية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عند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طلب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المستخدمة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تخصيص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طريقة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عرض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النتيجة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تذكير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المستخدمة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بإكمال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المعلومات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الناقصة</a:t>
            </a:r>
            <a:endParaRPr lang="en" dirty="0" err="1">
              <a:solidFill>
                <a:schemeClr val="lt1"/>
              </a:solidFill>
            </a:endParaRPr>
          </a:p>
          <a:p>
            <a:pPr algn="r" rtl="1"/>
            <a:endParaRPr lang="en" sz="900" b="1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803609" y="1775264"/>
            <a:ext cx="2775330" cy="41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ربط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بادرة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بتطبيقات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الصحة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والأجهزة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القابلة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للارتداء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-US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تحليل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تغير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القياسات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والبيانات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عبر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الوقت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مساعد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صوتي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لفهم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وصف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الحامل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لحالتها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استخراج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البيانات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من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صور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التحاليل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والتقارير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dirty="0">
              <a:solidFill>
                <a:schemeClr val="lt1"/>
              </a:solidFill>
            </a:endParaRPr>
          </a:p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التكامل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مع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السجلات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والأنظمة</a:t>
            </a:r>
            <a:r>
              <a:rPr lang="en" sz="9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الصحية</a:t>
            </a:r>
            <a:endParaRPr lang="en" dirty="0" err="1">
              <a:solidFill>
                <a:schemeClr val="lt1"/>
              </a:solidFill>
            </a:endParaRPr>
          </a:p>
          <a:p>
            <a:pPr algn="r" rtl="1"/>
            <a:endParaRPr lang="en" sz="900" b="1" dirty="0">
              <a:solidFill>
                <a:schemeClr val="lt1"/>
              </a:solidFill>
              <a:latin typeface="Tajawal"/>
              <a:cs typeface="Tajawal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" sz="1300" b="1" dirty="0">
              <a:solidFill>
                <a:schemeClr val="lt1"/>
              </a:solidFill>
              <a:latin typeface="Tajawal"/>
              <a:ea typeface="Tajawal"/>
              <a:cs typeface="Tajawal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566967" y="1766167"/>
            <a:ext cx="2923774" cy="43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900" b="1" dirty="0" err="1">
                <a:solidFill>
                  <a:schemeClr val="lt1"/>
                </a:solidFill>
                <a:latin typeface="Tajawal"/>
                <a:cs typeface="Tajawal"/>
              </a:rPr>
              <a:t>ت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قييم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مستوى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الخطورة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 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من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معلومات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والتاريخ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الصحي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-US" sz="800">
              <a:solidFill>
                <a:schemeClr val="lt1"/>
              </a:solidFill>
            </a:endParaRPr>
          </a:p>
          <a:p>
            <a:pPr algn="r" rtl="1"/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تقييم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موثوقية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النتيجة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حسب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اكتمال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واتساق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المعلومات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sz="800">
              <a:solidFill>
                <a:schemeClr val="lt1"/>
              </a:solidFill>
            </a:endParaRPr>
          </a:p>
          <a:p>
            <a:pPr algn="r" rtl="1"/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توضيح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المعلومات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الناقصة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بدل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إعطاء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نتيجة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غير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موثوقة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sz="800">
              <a:solidFill>
                <a:schemeClr val="lt1"/>
              </a:solidFill>
            </a:endParaRPr>
          </a:p>
          <a:p>
            <a:pPr algn="r" rtl="1"/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ربط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النتيجة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بمرحلة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والحاجة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للتقييم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المهني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 </a:t>
            </a:r>
            <a:endParaRPr lang="en" sz="800">
              <a:solidFill>
                <a:schemeClr val="lt1"/>
              </a:solidFill>
            </a:endParaRPr>
          </a:p>
          <a:p>
            <a:pPr algn="r" rtl="1"/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استخدام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البيانات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والتاريخ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الصحي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السابق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عند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توفره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endParaRPr lang="en" sz="800">
              <a:solidFill>
                <a:schemeClr val="lt1"/>
              </a:solidFill>
            </a:endParaRPr>
          </a:p>
          <a:p>
            <a:pPr algn="r" rtl="1"/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ملخص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واضح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قابل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للمشاركة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مع</a:t>
            </a:r>
            <a:r>
              <a:rPr lang="en" sz="8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Tajawal"/>
                <a:cs typeface="Tajawal"/>
              </a:rPr>
              <a:t>الطبيب</a:t>
            </a:r>
            <a:endParaRPr lang="en" sz="800">
              <a:solidFill>
                <a:schemeClr val="lt1"/>
              </a:solidFill>
            </a:endParaRPr>
          </a:p>
          <a:p>
            <a:pPr algn="r" rtl="1"/>
            <a:endParaRPr lang="en" sz="900" b="1" dirty="0">
              <a:solidFill>
                <a:schemeClr val="lt1"/>
              </a:solidFill>
              <a:ea typeface="Tajawal"/>
              <a:cs typeface="Tajaw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 descr="/home/claude/w/assets/logo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29" y="260604"/>
            <a:ext cx="891539" cy="3041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457429" y="651029"/>
            <a:ext cx="13716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600"/>
              <a:buFont typeface="Tajawal"/>
              <a:buNone/>
            </a:pPr>
            <a:r>
              <a:rPr lang="en" sz="600" b="0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</a:t>
            </a:r>
            <a:endParaRPr sz="6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2103349" y="246888"/>
            <a:ext cx="6583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jaw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بطاقة مفهوم الحل</a:t>
            </a:r>
            <a:endParaRPr sz="2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>
            <a:off x="457429" y="966978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16"/>
          <p:cNvSpPr/>
          <p:nvPr/>
        </p:nvSpPr>
        <p:spPr>
          <a:xfrm>
            <a:off x="6044413" y="1207008"/>
            <a:ext cx="2642700" cy="1405800"/>
          </a:xfrm>
          <a:prstGeom prst="roundRect">
            <a:avLst>
              <a:gd name="adj" fmla="val 146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8261833" y="1330452"/>
            <a:ext cx="274200" cy="274200"/>
          </a:xfrm>
          <a:prstGeom prst="ellipse">
            <a:avLst/>
          </a:prstGeom>
          <a:solidFill>
            <a:srgbClr val="10202F"/>
          </a:solidFill>
          <a:ln w="9525" cap="flat" cmpd="sng">
            <a:solidFill>
              <a:srgbClr val="1020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261833" y="133045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893614" y="1333927"/>
            <a:ext cx="2340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ماذا نبني؟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250921" y="1207008"/>
            <a:ext cx="2642700" cy="1405800"/>
          </a:xfrm>
          <a:prstGeom prst="roundRect">
            <a:avLst>
              <a:gd name="adj" fmla="val 146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468341" y="1330452"/>
            <a:ext cx="274200" cy="274200"/>
          </a:xfrm>
          <a:prstGeom prst="ellipse">
            <a:avLst/>
          </a:prstGeom>
          <a:solidFill>
            <a:srgbClr val="10202F"/>
          </a:solidFill>
          <a:ln w="9525" cap="flat" cmpd="sng">
            <a:solidFill>
              <a:srgbClr val="1020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468341" y="133045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127447" y="1299565"/>
            <a:ext cx="2340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لمن؟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57429" y="1207008"/>
            <a:ext cx="2642700" cy="1405800"/>
          </a:xfrm>
          <a:prstGeom prst="roundRect">
            <a:avLst>
              <a:gd name="adj" fmla="val 146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674849" y="1330452"/>
            <a:ext cx="274200" cy="274200"/>
          </a:xfrm>
          <a:prstGeom prst="ellipse">
            <a:avLst/>
          </a:prstGeom>
          <a:solidFill>
            <a:srgbClr val="10202F"/>
          </a:solidFill>
          <a:ln w="9525" cap="flat" cmpd="sng">
            <a:solidFill>
              <a:srgbClr val="1020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674849" y="133045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333955" y="1299565"/>
            <a:ext cx="2340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ما الذي يتغيّر عنده؟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044413" y="2791206"/>
            <a:ext cx="2642700" cy="1405800"/>
          </a:xfrm>
          <a:prstGeom prst="roundRect">
            <a:avLst>
              <a:gd name="adj" fmla="val 146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261833" y="2914650"/>
            <a:ext cx="274200" cy="274200"/>
          </a:xfrm>
          <a:prstGeom prst="ellipse">
            <a:avLst/>
          </a:prstGeom>
          <a:solidFill>
            <a:srgbClr val="AEDB0B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8261833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Tajawal"/>
                <a:ea typeface="Tajawal"/>
                <a:cs typeface="Tajawal"/>
                <a:sym typeface="Tajaw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893614" y="2859775"/>
            <a:ext cx="2340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أين تدخل التقنية؟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250921" y="2791206"/>
            <a:ext cx="2642700" cy="1405800"/>
          </a:xfrm>
          <a:prstGeom prst="roundRect">
            <a:avLst>
              <a:gd name="adj" fmla="val 1463"/>
            </a:avLst>
          </a:prstGeom>
          <a:solidFill>
            <a:srgbClr val="0B1219"/>
          </a:solidFill>
          <a:ln w="9525" cap="flat" cmpd="sng">
            <a:solidFill>
              <a:srgbClr val="1E2C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468341" y="2914650"/>
            <a:ext cx="274200" cy="274200"/>
          </a:xfrm>
          <a:prstGeom prst="ellipse">
            <a:avLst/>
          </a:prstGeom>
          <a:solidFill>
            <a:srgbClr val="10202F"/>
          </a:solidFill>
          <a:ln w="9525" cap="flat" cmpd="sng">
            <a:solidFill>
              <a:srgbClr val="1020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468341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E5F8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12E5F8"/>
                </a:solidFill>
                <a:latin typeface="Tajawal"/>
                <a:ea typeface="Tajawal"/>
                <a:cs typeface="Tajawal"/>
                <a:sym typeface="Tajawal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3082209" y="2852825"/>
            <a:ext cx="2340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لماذا لا يستطيع البديل ذلك؟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57429" y="2791206"/>
            <a:ext cx="2642700" cy="1405800"/>
          </a:xfrm>
          <a:prstGeom prst="roundRect">
            <a:avLst>
              <a:gd name="adj" fmla="val 1463"/>
            </a:avLst>
          </a:prstGeom>
          <a:solidFill>
            <a:srgbClr val="10202F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674849" y="2914650"/>
            <a:ext cx="274200" cy="274200"/>
          </a:xfrm>
          <a:prstGeom prst="ellipse">
            <a:avLst/>
          </a:prstGeom>
          <a:solidFill>
            <a:srgbClr val="AEDB0B"/>
          </a:solidFill>
          <a:ln w="9525" cap="flat" cmpd="sng">
            <a:solidFill>
              <a:srgbClr val="AED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674849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jaw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Tajawal"/>
                <a:ea typeface="Tajawal"/>
                <a:cs typeface="Tajawal"/>
                <a:sym typeface="Tajawal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270805" y="2904425"/>
            <a:ext cx="2340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jaw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أصغر نسخة قابلة للاختبار</a:t>
            </a:r>
            <a:endParaRPr sz="12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57429" y="4539996"/>
            <a:ext cx="8229600" cy="288000"/>
          </a:xfrm>
          <a:prstGeom prst="roundRect">
            <a:avLst>
              <a:gd name="adj" fmla="val 9524"/>
            </a:avLst>
          </a:prstGeom>
          <a:solidFill>
            <a:srgbClr val="021B4E"/>
          </a:solidFill>
          <a:ln w="7150" cap="flat" cmpd="sng">
            <a:solidFill>
              <a:srgbClr val="003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34619" y="4539996"/>
            <a:ext cx="7475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jaw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تحدي الجامعات 2026  |  اليوم الثاني — الجلسة 2: ورشة تصميم الحل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39725" y="4539996"/>
            <a:ext cx="34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B0B"/>
              </a:buClr>
              <a:buSzPts val="800"/>
              <a:buFont typeface="Tajawal"/>
              <a:buNone/>
            </a:pPr>
            <a:r>
              <a:rPr lang="en" sz="1000" b="1" i="0" u="none" strike="noStrike" cap="none">
                <a:solidFill>
                  <a:srgbClr val="AEDB0B"/>
                </a:solidFill>
                <a:latin typeface="Tajawal"/>
                <a:ea typeface="Tajawal"/>
                <a:cs typeface="Tajawal"/>
                <a:sym typeface="Tajawal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85787" y="1713743"/>
            <a:ext cx="2463603" cy="45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تفهم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الحامل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مستوى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خطورتها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ومدى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موثوقية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التقييم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وتعرف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متى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تحتاج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إلى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تقييم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طبي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مبكر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  <a:sym typeface="Tajawal"/>
              </a:rPr>
              <a:t>.</a:t>
            </a:r>
            <a:endParaRPr lang="en-US" sz="1000">
              <a:solidFill>
                <a:schemeClr val="lt1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171084" y="1716060"/>
            <a:ext cx="2359694" cy="39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بادرة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: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رفيق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ذكي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ثنائي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اللغة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للتوعية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المبكرة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بمخاطر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تسمم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يجمع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بين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الخطورة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والموثوقية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والتوقيت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sz="1000">
              <a:solidFill>
                <a:schemeClr val="lt1"/>
              </a:solidFill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268817" y="1714727"/>
            <a:ext cx="2478448" cy="38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للنساء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السعوديات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والعربيات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أثناء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خاصةً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من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لديهن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عوامل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خطورة</a:t>
            </a:r>
            <a:r>
              <a:rPr lang="en" sz="13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أو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أعراض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وقياسات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تحتاج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إلى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فهم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أوضح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35168" y="3289019"/>
            <a:ext cx="2626889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نسخة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أولية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تتنبأ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بمستوى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الخطورة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من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بيانات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الأساسية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وتوضح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موثوقية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التنبؤ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والمعلومات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الناقصة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ومدى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الحاجة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إلى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تقييم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طبي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مبكر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b="1" dirty="0">
              <a:solidFill>
                <a:schemeClr val="lt1"/>
              </a:solidFill>
              <a:latin typeface="Tajawal"/>
              <a:cs typeface="Tajawal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027886" y="3194850"/>
            <a:ext cx="2500714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تحلل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نماذج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الذكاء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الاصطناعي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بيانات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للتنبؤ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بالخطورة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وتقييم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موثوقية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التنبؤ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وتحديد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المعلومات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الناقصة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،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وربط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النتيجة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بمرحلة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3326016" y="3245471"/>
            <a:ext cx="2419071" cy="41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1"/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لأن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البحث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الذاتي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والمصادر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العامة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لا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تجمع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بيانات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الحامل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الشخصية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مع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موثوقية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المعلومات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وتوقيت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الحمل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في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تقييم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واحد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Tajawal"/>
                <a:cs typeface="Tajawal"/>
              </a:rPr>
              <a:t>واضح</a:t>
            </a:r>
            <a:r>
              <a:rPr lang="en" sz="1000" b="1" dirty="0">
                <a:solidFill>
                  <a:schemeClr val="lt1"/>
                </a:solidFill>
                <a:latin typeface="Tajawal"/>
                <a:cs typeface="Tajawal"/>
              </a:rPr>
              <a:t>.</a:t>
            </a:r>
            <a:endParaRPr lang="en-US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118</cp:revision>
  <dcterms:modified xsi:type="dcterms:W3CDTF">2026-09-15T14:37:59Z</dcterms:modified>
</cp:coreProperties>
</file>