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ajar" charset="1" panose="00000500000000000000"/>
      <p:regular r:id="rId15"/>
    </p:embeddedFont>
    <p:embeddedFont>
      <p:font typeface="Arimo" charset="1" panose="020B0604020202020204"/>
      <p:regular r:id="rId16"/>
    </p:embeddedFont>
    <p:embeddedFont>
      <p:font typeface="Comic Sans" charset="1" panose="03000702030302020204"/>
      <p:regular r:id="rId17"/>
    </p:embeddedFont>
    <p:embeddedFont>
      <p:font typeface="Arimo Bold" charset="1" panose="020B07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6667500" cy="10287000"/>
            <a:chOff x="0" y="0"/>
            <a:chExt cx="8890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4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9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0" y="0"/>
            <a:ext cx="9525" cy="10287000"/>
            <a:chOff x="0" y="0"/>
            <a:chExt cx="127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B5780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07054" y="6630059"/>
            <a:ext cx="5270619" cy="37647"/>
            <a:chOff x="0" y="0"/>
            <a:chExt cx="3556000" cy="2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6000" cy="25400"/>
            </a:xfrm>
            <a:custGeom>
              <a:avLst/>
              <a:gdLst/>
              <a:ahLst/>
              <a:cxnLst/>
              <a:rect r="r" b="b" t="t" l="l"/>
              <a:pathLst>
                <a:path h="254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B57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55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9144000"/>
            <a:ext cx="14288" cy="381000"/>
            <a:chOff x="0" y="0"/>
            <a:chExt cx="19050" cy="50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>
                <a:alpha val="21961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05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09700" y="9144000"/>
            <a:ext cx="14288" cy="381000"/>
            <a:chOff x="0" y="0"/>
            <a:chExt cx="19050" cy="50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>
                <a:alpha val="21961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05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6400" y="9144000"/>
            <a:ext cx="14288" cy="381000"/>
            <a:chOff x="0" y="0"/>
            <a:chExt cx="19050" cy="50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>
                <a:alpha val="21961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05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43100" y="9144000"/>
            <a:ext cx="14288" cy="381000"/>
            <a:chOff x="0" y="0"/>
            <a:chExt cx="19050" cy="50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>
                <a:alpha val="21961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05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09800" y="9144000"/>
            <a:ext cx="14288" cy="381000"/>
            <a:chOff x="0" y="0"/>
            <a:chExt cx="19050" cy="50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>
                <a:alpha val="21961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05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476500" y="9144000"/>
            <a:ext cx="14288" cy="381000"/>
            <a:chOff x="0" y="0"/>
            <a:chExt cx="19050" cy="508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5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>
                <a:alpha val="21961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905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743200" y="9144000"/>
            <a:ext cx="14288" cy="381000"/>
            <a:chOff x="0" y="0"/>
            <a:chExt cx="19050" cy="508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>
                <a:alpha val="21961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05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009900" y="9144000"/>
            <a:ext cx="14288" cy="381000"/>
            <a:chOff x="0" y="0"/>
            <a:chExt cx="19050" cy="50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5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>
                <a:alpha val="21961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05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38" id="38" descr="شعار بادرة"/>
          <p:cNvSpPr/>
          <p:nvPr/>
        </p:nvSpPr>
        <p:spPr>
          <a:xfrm flipH="false" flipV="false" rot="0">
            <a:off x="16735425" y="6239967"/>
            <a:ext cx="409575" cy="609600"/>
          </a:xfrm>
          <a:custGeom>
            <a:avLst/>
            <a:gdLst/>
            <a:ahLst/>
            <a:cxnLst/>
            <a:rect r="r" b="b" t="t" l="l"/>
            <a:pathLst>
              <a:path h="609600" w="409575">
                <a:moveTo>
                  <a:pt x="0" y="0"/>
                </a:moveTo>
                <a:lnTo>
                  <a:pt x="409575" y="0"/>
                </a:lnTo>
                <a:lnTo>
                  <a:pt x="4095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" t="0" r="-436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28700" y="3058754"/>
            <a:ext cx="5120602" cy="5120602"/>
          </a:xfrm>
          <a:custGeom>
            <a:avLst/>
            <a:gdLst/>
            <a:ahLst/>
            <a:cxnLst/>
            <a:rect r="r" b="b" t="t" l="l"/>
            <a:pathLst>
              <a:path h="5120602" w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7620000" y="3866099"/>
            <a:ext cx="9525000" cy="225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6950"/>
              </a:lnSpc>
            </a:pPr>
            <a:r>
              <a:rPr lang="ar-EG" sz="16950">
                <a:solidFill>
                  <a:srgbClr val="F7F4F1"/>
                </a:solidFill>
                <a:latin typeface="Hajar"/>
                <a:ea typeface="Hajar"/>
                <a:cs typeface="Hajar"/>
                <a:sym typeface="Hajar"/>
                <a:rtl val="true"/>
              </a:rPr>
              <a:t>بادرة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0" y="6391501"/>
            <a:ext cx="7429500" cy="45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10"/>
              </a:lnSpc>
            </a:pPr>
            <a:r>
              <a:rPr lang="en-US" sz="2925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B A D I R 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62077" y="7155418"/>
            <a:ext cx="7982923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5"/>
              </a:lnSpc>
            </a:pPr>
            <a:r>
              <a:rPr lang="ar-EG" sz="2700">
                <a:solidFill>
                  <a:srgbClr val="F3E3E3"/>
                </a:solidFill>
                <a:latin typeface="Comic Sans"/>
                <a:ea typeface="Comic Sans"/>
                <a:cs typeface="Comic Sans"/>
                <a:sym typeface="Comic Sans"/>
                <a:rtl val="true"/>
              </a:rPr>
              <a:t>في الحمل، قد تكون الإشارة موجودة…</a:t>
            </a:r>
          </a:p>
          <a:p>
            <a:pPr algn="r" rtl="true">
              <a:lnSpc>
                <a:spcPts val="3915"/>
              </a:lnSpc>
            </a:pPr>
            <a:r>
              <a:rPr lang="ar-EG" sz="2700">
                <a:solidFill>
                  <a:srgbClr val="F3E3E3"/>
                </a:solidFill>
                <a:latin typeface="Comic Sans"/>
                <a:ea typeface="Comic Sans"/>
                <a:cs typeface="Comic Sans"/>
                <a:sym typeface="Comic Sans"/>
                <a:rtl val="true"/>
              </a:rPr>
              <a:t> لكن السؤال هو: هل نعرف متى تصبح مهمة؟</a:t>
            </a:r>
          </a:p>
          <a:p>
            <a:pPr algn="r" rtl="true">
              <a:lnSpc>
                <a:spcPts val="3915"/>
              </a:lnSpc>
            </a:pPr>
          </a:p>
          <a:p>
            <a:pPr algn="r" rtl="true">
              <a:lnSpc>
                <a:spcPts val="3915"/>
              </a:lnSpc>
            </a:pPr>
            <a:r>
              <a:rPr lang="ar-EG" sz="2700">
                <a:solidFill>
                  <a:srgbClr val="F3E3E3"/>
                </a:solidFill>
                <a:latin typeface="Comic Sans"/>
                <a:ea typeface="Comic Sans"/>
                <a:cs typeface="Comic Sans"/>
                <a:sym typeface="Comic Sans"/>
                <a:rtl val="true"/>
              </a:rPr>
              <a:t>وعي أبكر. قرار أوضح.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3000" y="847725"/>
            <a:ext cx="1905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4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334853"/>
            <a:ext cx="12012186" cy="2952147"/>
            <a:chOff x="0" y="0"/>
            <a:chExt cx="14986000" cy="3683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86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4986000">
                  <a:moveTo>
                    <a:pt x="0" y="0"/>
                  </a:moveTo>
                  <a:lnTo>
                    <a:pt x="14986000" y="0"/>
                  </a:lnTo>
                  <a:lnTo>
                    <a:pt x="14986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986000" cy="372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07643" y="3381375"/>
            <a:ext cx="41177" cy="2676525"/>
            <a:chOff x="0" y="0"/>
            <a:chExt cx="254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4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10000" y="6667500"/>
            <a:ext cx="13335000" cy="57150"/>
            <a:chOff x="0" y="0"/>
            <a:chExt cx="177800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780000" cy="76200"/>
            </a:xfrm>
            <a:custGeom>
              <a:avLst/>
              <a:gdLst/>
              <a:ahLst/>
              <a:cxnLst/>
              <a:rect r="r" b="b" t="t" l="l"/>
              <a:pathLst>
                <a:path h="76200" w="17780000">
                  <a:moveTo>
                    <a:pt x="0" y="0"/>
                  </a:moveTo>
                  <a:lnTo>
                    <a:pt x="17780000" y="0"/>
                  </a:lnTo>
                  <a:lnTo>
                    <a:pt x="1778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FE7E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780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74793" y="1330552"/>
            <a:ext cx="6817877" cy="1015547"/>
            <a:chOff x="0" y="0"/>
            <a:chExt cx="879413" cy="1309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9413" cy="130992"/>
            </a:xfrm>
            <a:custGeom>
              <a:avLst/>
              <a:gdLst/>
              <a:ahLst/>
              <a:cxnLst/>
              <a:rect r="r" b="b" t="t" l="l"/>
              <a:pathLst>
                <a:path h="130992" w="879413">
                  <a:moveTo>
                    <a:pt x="0" y="0"/>
                  </a:moveTo>
                  <a:lnTo>
                    <a:pt x="879413" y="0"/>
                  </a:lnTo>
                  <a:lnTo>
                    <a:pt x="879413" y="130992"/>
                  </a:lnTo>
                  <a:lnTo>
                    <a:pt x="0" y="130992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79413" cy="169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5950" y="9048750"/>
            <a:ext cx="14288" cy="247650"/>
            <a:chOff x="0" y="0"/>
            <a:chExt cx="19050" cy="33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" cy="330200"/>
            </a:xfrm>
            <a:custGeom>
              <a:avLst/>
              <a:gdLst/>
              <a:ahLst/>
              <a:cxnLst/>
              <a:rect r="r" b="b" t="t" l="l"/>
              <a:pathLst>
                <a:path h="3302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0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20750" y="5572125"/>
            <a:ext cx="14288" cy="266700"/>
            <a:chOff x="0" y="0"/>
            <a:chExt cx="19050" cy="355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92200" y="5572125"/>
            <a:ext cx="14288" cy="266700"/>
            <a:chOff x="0" y="0"/>
            <a:chExt cx="19050" cy="355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35100" y="5572125"/>
            <a:ext cx="14288" cy="266700"/>
            <a:chOff x="0" y="0"/>
            <a:chExt cx="19050" cy="355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306550" y="5572125"/>
            <a:ext cx="14288" cy="266700"/>
            <a:chOff x="0" y="0"/>
            <a:chExt cx="19050" cy="355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478000" y="5572125"/>
            <a:ext cx="14288" cy="266700"/>
            <a:chOff x="0" y="0"/>
            <a:chExt cx="19050" cy="355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649450" y="5572125"/>
            <a:ext cx="14288" cy="266700"/>
            <a:chOff x="0" y="0"/>
            <a:chExt cx="19050" cy="355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820900" y="5572125"/>
            <a:ext cx="14288" cy="266700"/>
            <a:chOff x="0" y="0"/>
            <a:chExt cx="19050" cy="355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992350" y="5572125"/>
            <a:ext cx="14288" cy="266700"/>
            <a:chOff x="0" y="0"/>
            <a:chExt cx="19050" cy="355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678150" y="5572125"/>
            <a:ext cx="14288" cy="266700"/>
            <a:chOff x="0" y="0"/>
            <a:chExt cx="19050" cy="355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849600" y="5572125"/>
            <a:ext cx="14288" cy="266700"/>
            <a:chOff x="0" y="0"/>
            <a:chExt cx="19050" cy="355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192500" y="5572125"/>
            <a:ext cx="14288" cy="266700"/>
            <a:chOff x="0" y="0"/>
            <a:chExt cx="19050" cy="355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363950" y="5572125"/>
            <a:ext cx="14288" cy="266700"/>
            <a:chOff x="0" y="0"/>
            <a:chExt cx="19050" cy="355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535400" y="5572125"/>
            <a:ext cx="14288" cy="266700"/>
            <a:chOff x="0" y="0"/>
            <a:chExt cx="19050" cy="355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706850" y="5572125"/>
            <a:ext cx="14288" cy="266700"/>
            <a:chOff x="0" y="0"/>
            <a:chExt cx="19050" cy="355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878300" y="5572125"/>
            <a:ext cx="14288" cy="266700"/>
            <a:chOff x="0" y="0"/>
            <a:chExt cx="19050" cy="355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049750" y="5572125"/>
            <a:ext cx="14288" cy="266700"/>
            <a:chOff x="0" y="0"/>
            <a:chExt cx="19050" cy="355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050" cy="355600"/>
            </a:xfrm>
            <a:custGeom>
              <a:avLst/>
              <a:gdLst/>
              <a:ahLst/>
              <a:cxnLst/>
              <a:rect r="r" b="b" t="t" l="l"/>
              <a:pathLst>
                <a:path h="3556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5560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A796B5">
                <a:alpha val="49804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905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3120787" y="62473"/>
            <a:ext cx="5546201" cy="5776352"/>
          </a:xfrm>
          <a:custGeom>
            <a:avLst/>
            <a:gdLst/>
            <a:ahLst/>
            <a:cxnLst/>
            <a:rect r="r" b="b" t="t" l="l"/>
            <a:pathLst>
              <a:path h="5776352" w="5546201">
                <a:moveTo>
                  <a:pt x="0" y="0"/>
                </a:moveTo>
                <a:lnTo>
                  <a:pt x="5546201" y="0"/>
                </a:lnTo>
                <a:lnTo>
                  <a:pt x="5546201" y="5776352"/>
                </a:lnTo>
                <a:lnTo>
                  <a:pt x="0" y="5776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8023934" y="3235164"/>
            <a:ext cx="4165415" cy="118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646"/>
              </a:lnSpc>
            </a:pPr>
            <a:r>
              <a:rPr lang="en-US" sz="8646" b="true">
                <a:solidFill>
                  <a:srgbClr val="3B2F45"/>
                </a:solidFill>
                <a:latin typeface="Arimo Bold"/>
                <a:ea typeface="Arimo Bold"/>
                <a:cs typeface="Arimo Bold"/>
                <a:sym typeface="Arimo Bold"/>
              </a:rPr>
              <a:t>4.80%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642977" y="4562475"/>
            <a:ext cx="95250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569"/>
              </a:lnSpc>
            </a:pPr>
            <a:r>
              <a:rPr lang="ar-EG" sz="2549">
                <a:solidFill>
                  <a:srgbClr val="5E5566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نسبة انتشار تسمم الحمل المقدّرة في السعودية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4247" y="5135880"/>
            <a:ext cx="1306373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800"/>
              </a:lnSpc>
            </a:pPr>
            <a:r>
              <a:rPr lang="ar-EG" sz="200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مراجعة منهجية وتحليل بَعدي لـ </a:t>
            </a:r>
            <a:r>
              <a:rPr lang="en-US" sz="200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</a:rPr>
              <a:t>21</a:t>
            </a:r>
            <a:r>
              <a:rPr lang="ar-EG" sz="200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 دراسة سعودية، </a:t>
            </a:r>
            <a:r>
              <a:rPr lang="en-US" sz="200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</a:rPr>
              <a:t>2025</a:t>
            </a:r>
            <a:r>
              <a:rPr lang="ar-EG" sz="200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 · </a:t>
            </a:r>
            <a:r>
              <a:rPr lang="en-US" sz="200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</a:rPr>
              <a:t>PubMed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030088" y="5657850"/>
            <a:ext cx="6090699" cy="29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49"/>
              </a:lnSpc>
            </a:pPr>
            <a:r>
              <a:rPr lang="en-US" sz="1678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</a:rPr>
              <a:t>٢١</a:t>
            </a:r>
            <a:r>
              <a:rPr lang="ar-EG" sz="1678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 دراسة سعودية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-457836" y="3378994"/>
            <a:ext cx="599628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436"/>
              </a:lnSpc>
            </a:pPr>
            <a:r>
              <a:rPr lang="ar-EG" b="true" sz="2863">
                <a:solidFill>
                  <a:srgbClr val="3B2F45"/>
                </a:solidFill>
                <a:latin typeface="Arimo Bold"/>
                <a:ea typeface="Arimo Bold"/>
                <a:cs typeface="Arimo Bold"/>
                <a:sym typeface="Arimo Bold"/>
                <a:rtl val="true"/>
              </a:rPr>
              <a:t>لمن بادرة؟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764356" y="4568825"/>
            <a:ext cx="3790950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379"/>
              </a:lnSpc>
            </a:pPr>
            <a:r>
              <a:rPr lang="ar-EG" sz="2599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النساء الحوامل في السعودية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747502" y="5167630"/>
            <a:ext cx="3790950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599"/>
              </a:lnSpc>
            </a:pPr>
            <a:r>
              <a:rPr lang="ar-EG" sz="1999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بالعربية والإنجليزية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764356" y="7781925"/>
            <a:ext cx="9144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730"/>
              </a:lnSpc>
            </a:pPr>
            <a:r>
              <a:rPr lang="ar-EG" sz="210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ما تعلّمناه من مقابلاتنا  · 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764356" y="8234362"/>
            <a:ext cx="9144000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97"/>
              </a:lnSpc>
            </a:pPr>
            <a:r>
              <a:rPr lang="ar-EG" sz="2549">
                <a:solidFill>
                  <a:srgbClr val="F7F4F1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المعلومة موجودة، لكن التحدي هو معرفة: هل هذه الأعراض أو القياسات تستدعي مراجعة الطبيب؟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193356" y="9363075"/>
            <a:ext cx="571500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729"/>
              </a:lnSpc>
            </a:pPr>
            <a:r>
              <a:rPr lang="ar-EG" sz="2099">
                <a:solidFill>
                  <a:srgbClr val="F7F4F1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المعلومة كانت متاحة. التفسير لم يكن.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43000" y="857250"/>
            <a:ext cx="19050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762500" y="1509077"/>
            <a:ext cx="8405477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029"/>
              </a:lnSpc>
            </a:pPr>
            <a:r>
              <a:rPr lang="ar-EG" sz="3099">
                <a:solidFill>
                  <a:srgbClr val="241D2A"/>
                </a:solidFill>
                <a:latin typeface="Hajar"/>
                <a:ea typeface="Hajar"/>
                <a:cs typeface="Hajar"/>
                <a:sym typeface="Hajar"/>
                <a:rtl val="true"/>
              </a:rPr>
              <a:t>تسمّم الحمل لا يبدأ دائمًا بعلامة واضحة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00949" y="3476625"/>
            <a:ext cx="4334600" cy="904875"/>
            <a:chOff x="0" y="0"/>
            <a:chExt cx="5779466" cy="1206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79466" cy="1206500"/>
            </a:xfrm>
            <a:custGeom>
              <a:avLst/>
              <a:gdLst/>
              <a:ahLst/>
              <a:cxnLst/>
              <a:rect r="r" b="b" t="t" l="l"/>
              <a:pathLst>
                <a:path h="1206500" w="5779466">
                  <a:moveTo>
                    <a:pt x="0" y="0"/>
                  </a:moveTo>
                  <a:lnTo>
                    <a:pt x="5779466" y="0"/>
                  </a:lnTo>
                  <a:lnTo>
                    <a:pt x="5779466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F7F4F1">
                <a:alpha val="5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79466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461376"/>
            <a:ext cx="18288000" cy="10287000"/>
            <a:chOff x="0" y="0"/>
            <a:chExt cx="24384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81500" y="5339080"/>
            <a:ext cx="4334600" cy="904875"/>
            <a:chOff x="0" y="0"/>
            <a:chExt cx="5779466" cy="120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79466" cy="1206500"/>
            </a:xfrm>
            <a:custGeom>
              <a:avLst/>
              <a:gdLst/>
              <a:ahLst/>
              <a:cxnLst/>
              <a:rect r="r" b="b" t="t" l="l"/>
              <a:pathLst>
                <a:path h="1206500" w="5779466">
                  <a:moveTo>
                    <a:pt x="0" y="0"/>
                  </a:moveTo>
                  <a:lnTo>
                    <a:pt x="5779466" y="0"/>
                  </a:lnTo>
                  <a:lnTo>
                    <a:pt x="5779466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F7F4F1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779466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7620000"/>
            <a:ext cx="7239000" cy="2667000"/>
            <a:chOff x="0" y="0"/>
            <a:chExt cx="9652000" cy="355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52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3556000"/>
                  </a:lnTo>
                  <a:lnTo>
                    <a:pt x="0" y="3556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52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94152" y="3260718"/>
            <a:ext cx="19050" cy="2095500"/>
            <a:chOff x="0" y="0"/>
            <a:chExt cx="25400" cy="279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3B2F4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4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100949" y="3476625"/>
            <a:ext cx="21160" cy="1833880"/>
            <a:chOff x="0" y="0"/>
            <a:chExt cx="1905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A796B5">
                <a:alpha val="54902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05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66349" y="5339080"/>
            <a:ext cx="4341744" cy="17138"/>
            <a:chOff x="0" y="0"/>
            <a:chExt cx="48260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26000" cy="19050"/>
            </a:xfrm>
            <a:custGeom>
              <a:avLst/>
              <a:gdLst/>
              <a:ahLst/>
              <a:cxnLst/>
              <a:rect r="r" b="b" t="t" l="l"/>
              <a:pathLst>
                <a:path h="1905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54902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26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81500" y="6264589"/>
            <a:ext cx="4374269" cy="17267"/>
            <a:chOff x="0" y="0"/>
            <a:chExt cx="4826000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6000" cy="19050"/>
            </a:xfrm>
            <a:custGeom>
              <a:avLst/>
              <a:gdLst/>
              <a:ahLst/>
              <a:cxnLst/>
              <a:rect r="r" b="b" t="t" l="l"/>
              <a:pathLst>
                <a:path h="1905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54902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826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286500" y="7143750"/>
            <a:ext cx="14288" cy="1238250"/>
            <a:chOff x="0" y="0"/>
            <a:chExt cx="19050" cy="165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A796B5">
                <a:alpha val="5490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05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125950" y="9048750"/>
            <a:ext cx="14288" cy="247650"/>
            <a:chOff x="0" y="0"/>
            <a:chExt cx="19050" cy="330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50" cy="330200"/>
            </a:xfrm>
            <a:custGeom>
              <a:avLst/>
              <a:gdLst/>
              <a:ahLst/>
              <a:cxnLst/>
              <a:rect r="r" b="b" t="t" l="l"/>
              <a:pathLst>
                <a:path h="3302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90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810000" y="766763"/>
            <a:ext cx="13335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719"/>
              </a:lnSpc>
            </a:pPr>
            <a:r>
              <a:rPr lang="ar-EG" sz="3099">
                <a:solidFill>
                  <a:srgbClr val="261E2D"/>
                </a:solidFill>
                <a:latin typeface="Hajar"/>
                <a:ea typeface="Hajar"/>
                <a:cs typeface="Hajar"/>
                <a:sym typeface="Hajar"/>
                <a:rtl val="true"/>
              </a:rPr>
              <a:t>المعلومة وحدها لا تكفي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0" y="3371850"/>
            <a:ext cx="3238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60"/>
              </a:lnSpc>
            </a:pPr>
            <a:r>
              <a:rPr lang="ar-EG" sz="2550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السياق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0" y="4086225"/>
            <a:ext cx="3238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60"/>
              </a:lnSpc>
            </a:pPr>
            <a:r>
              <a:rPr lang="ar-EG" sz="2550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اكتمال المعلومات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4800600"/>
            <a:ext cx="3238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60"/>
              </a:lnSpc>
            </a:pPr>
            <a:r>
              <a:rPr lang="ar-EG" sz="2550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التوقيت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122109" y="3476625"/>
            <a:ext cx="4334600" cy="904875"/>
            <a:chOff x="0" y="0"/>
            <a:chExt cx="5779466" cy="1206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79466" cy="1206500"/>
            </a:xfrm>
            <a:custGeom>
              <a:avLst/>
              <a:gdLst/>
              <a:ahLst/>
              <a:cxnLst/>
              <a:rect r="r" b="b" t="t" l="l"/>
              <a:pathLst>
                <a:path h="1206500" w="5779466">
                  <a:moveTo>
                    <a:pt x="0" y="0"/>
                  </a:moveTo>
                  <a:lnTo>
                    <a:pt x="5779466" y="0"/>
                  </a:lnTo>
                  <a:lnTo>
                    <a:pt x="5779466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F7F4F1">
                <a:alpha val="54902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779466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687300" y="3714750"/>
            <a:ext cx="4572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639"/>
              </a:lnSpc>
            </a:pPr>
            <a:r>
              <a:rPr lang="en-US" sz="2199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</a:rPr>
              <a:t>٠١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43611" y="3695065"/>
            <a:ext cx="4572000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859"/>
              </a:lnSpc>
            </a:pPr>
            <a:r>
              <a:rPr lang="ar-EG" sz="2199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أعراض + قياسات + تاريخ صحي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766349" y="4434205"/>
            <a:ext cx="4334600" cy="904875"/>
            <a:chOff x="0" y="0"/>
            <a:chExt cx="5779466" cy="1206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79466" cy="1206500"/>
            </a:xfrm>
            <a:custGeom>
              <a:avLst/>
              <a:gdLst/>
              <a:ahLst/>
              <a:cxnLst/>
              <a:rect r="r" b="b" t="t" l="l"/>
              <a:pathLst>
                <a:path h="1206500" w="5779466">
                  <a:moveTo>
                    <a:pt x="0" y="0"/>
                  </a:moveTo>
                  <a:lnTo>
                    <a:pt x="5779466" y="0"/>
                  </a:lnTo>
                  <a:lnTo>
                    <a:pt x="5779466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F7F4F1">
                <a:alpha val="54902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779466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417110" y="4752975"/>
            <a:ext cx="4572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639"/>
              </a:lnSpc>
            </a:pPr>
            <a:r>
              <a:rPr lang="en-US" sz="2199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</a:rPr>
              <a:t>٠٢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15300" y="4681537"/>
            <a:ext cx="4572000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859"/>
              </a:lnSpc>
            </a:pPr>
            <a:r>
              <a:rPr lang="ar-EG" sz="2199">
                <a:solidFill>
                  <a:srgbClr val="5E5566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بحث + تطبيقات + سؤال الآخرين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00500" y="5648325"/>
            <a:ext cx="4572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639"/>
              </a:lnSpc>
            </a:pPr>
            <a:r>
              <a:rPr lang="en-US" sz="2199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</a:rPr>
              <a:t>٠٣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714750" y="5637370"/>
            <a:ext cx="4572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925"/>
              </a:lnSpc>
            </a:pPr>
            <a:r>
              <a:rPr lang="ar-EG" sz="225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معلومات بلا سياق شخصي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3000" y="8039100"/>
            <a:ext cx="51435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350"/>
              </a:lnSpc>
            </a:pPr>
            <a:r>
              <a:rPr lang="en-US" sz="1125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٠٤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3000" y="8353425"/>
            <a:ext cx="5446433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779"/>
              </a:lnSpc>
            </a:pPr>
            <a:r>
              <a:rPr lang="ar-EG" sz="2799">
                <a:solidFill>
                  <a:srgbClr val="F7F4F1"/>
                </a:solidFill>
                <a:latin typeface="Hajar"/>
                <a:ea typeface="Hajar"/>
                <a:cs typeface="Hajar"/>
                <a:sym typeface="Hajar"/>
                <a:rtl val="true"/>
              </a:rPr>
              <a:t>هل هذا مهم؟ وهل يجب أن أتصرف الآن</a:t>
            </a:r>
            <a:r>
              <a:rPr lang="ar-EG" sz="2799">
                <a:solidFill>
                  <a:srgbClr val="F7F4F1"/>
                </a:solidFill>
                <a:latin typeface="Hajar"/>
                <a:ea typeface="Hajar"/>
                <a:cs typeface="Hajar"/>
                <a:sym typeface="Hajar"/>
                <a:rtl val="true"/>
              </a:rPr>
              <a:t>؟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115300" y="7651179"/>
            <a:ext cx="8383437" cy="397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168"/>
              </a:lnSpc>
            </a:pPr>
            <a:r>
              <a:rPr lang="ar-EG" sz="2437">
                <a:solidFill>
                  <a:srgbClr val="5E5566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لذلك بادرة لا تقرأ “المخاطر” وحدها.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3000" y="847725"/>
            <a:ext cx="1905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745189" y="4430709"/>
            <a:ext cx="21160" cy="1833880"/>
            <a:chOff x="0" y="0"/>
            <a:chExt cx="19050" cy="165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05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A796B5">
                <a:alpha val="54902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05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25950" y="8382000"/>
            <a:ext cx="19050" cy="247650"/>
            <a:chOff x="0" y="0"/>
            <a:chExt cx="25400" cy="33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" cy="330200"/>
            </a:xfrm>
            <a:custGeom>
              <a:avLst/>
              <a:gdLst/>
              <a:ahLst/>
              <a:cxnLst/>
              <a:rect r="r" b="b" t="t" l="l"/>
              <a:pathLst>
                <a:path h="330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>
                <a:alpha val="8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73525" y="8382000"/>
            <a:ext cx="19050" cy="133350"/>
            <a:chOff x="0" y="0"/>
            <a:chExt cx="25400" cy="17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11575" y="8382000"/>
            <a:ext cx="19050" cy="133350"/>
            <a:chOff x="0" y="0"/>
            <a:chExt cx="25400" cy="17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49625" y="8382000"/>
            <a:ext cx="19050" cy="133350"/>
            <a:chOff x="0" y="0"/>
            <a:chExt cx="25400" cy="177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87675" y="8382000"/>
            <a:ext cx="19050" cy="133350"/>
            <a:chOff x="0" y="0"/>
            <a:chExt cx="25400" cy="177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25725" y="8382000"/>
            <a:ext cx="19050" cy="247650"/>
            <a:chOff x="0" y="0"/>
            <a:chExt cx="25400" cy="3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" cy="330200"/>
            </a:xfrm>
            <a:custGeom>
              <a:avLst/>
              <a:gdLst/>
              <a:ahLst/>
              <a:cxnLst/>
              <a:rect r="r" b="b" t="t" l="l"/>
              <a:pathLst>
                <a:path h="330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>
                <a:alpha val="8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4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963775" y="8382000"/>
            <a:ext cx="19050" cy="133350"/>
            <a:chOff x="0" y="0"/>
            <a:chExt cx="25400" cy="177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01825" y="8382000"/>
            <a:ext cx="19050" cy="133350"/>
            <a:chOff x="0" y="0"/>
            <a:chExt cx="25400" cy="177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39875" y="8382000"/>
            <a:ext cx="19050" cy="133350"/>
            <a:chOff x="0" y="0"/>
            <a:chExt cx="25400" cy="177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877925" y="8382000"/>
            <a:ext cx="19050" cy="133350"/>
            <a:chOff x="0" y="0"/>
            <a:chExt cx="25400" cy="177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15975" y="8382000"/>
            <a:ext cx="19050" cy="247650"/>
            <a:chOff x="0" y="0"/>
            <a:chExt cx="25400" cy="330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400" cy="330200"/>
            </a:xfrm>
            <a:custGeom>
              <a:avLst/>
              <a:gdLst/>
              <a:ahLst/>
              <a:cxnLst/>
              <a:rect r="r" b="b" t="t" l="l"/>
              <a:pathLst>
                <a:path h="330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>
                <a:alpha val="8000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54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154025" y="8382000"/>
            <a:ext cx="19050" cy="133350"/>
            <a:chOff x="0" y="0"/>
            <a:chExt cx="25400" cy="177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92075" y="8382000"/>
            <a:ext cx="19050" cy="133350"/>
            <a:chOff x="0" y="0"/>
            <a:chExt cx="25400" cy="177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30125" y="8382000"/>
            <a:ext cx="19050" cy="133350"/>
            <a:chOff x="0" y="0"/>
            <a:chExt cx="25400" cy="177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068175" y="8382000"/>
            <a:ext cx="19050" cy="133350"/>
            <a:chOff x="0" y="0"/>
            <a:chExt cx="25400" cy="177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706225" y="8382000"/>
            <a:ext cx="19050" cy="247650"/>
            <a:chOff x="0" y="0"/>
            <a:chExt cx="25400" cy="330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400" cy="330200"/>
            </a:xfrm>
            <a:custGeom>
              <a:avLst/>
              <a:gdLst/>
              <a:ahLst/>
              <a:cxnLst/>
              <a:rect r="r" b="b" t="t" l="l"/>
              <a:pathLst>
                <a:path h="330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>
                <a:alpha val="8000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54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44275" y="8382000"/>
            <a:ext cx="19050" cy="133350"/>
            <a:chOff x="0" y="0"/>
            <a:chExt cx="25400" cy="177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82325" y="8382000"/>
            <a:ext cx="19050" cy="133350"/>
            <a:chOff x="0" y="0"/>
            <a:chExt cx="25400" cy="177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20375" y="8382000"/>
            <a:ext cx="19050" cy="133350"/>
            <a:chOff x="0" y="0"/>
            <a:chExt cx="25400" cy="177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58425" y="8382000"/>
            <a:ext cx="19050" cy="133350"/>
            <a:chOff x="0" y="0"/>
            <a:chExt cx="25400" cy="177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96475" y="8382000"/>
            <a:ext cx="19050" cy="247650"/>
            <a:chOff x="0" y="0"/>
            <a:chExt cx="25400" cy="330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400" cy="330200"/>
            </a:xfrm>
            <a:custGeom>
              <a:avLst/>
              <a:gdLst/>
              <a:ahLst/>
              <a:cxnLst/>
              <a:rect r="r" b="b" t="t" l="l"/>
              <a:pathLst>
                <a:path h="330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>
                <a:alpha val="8000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54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34525" y="8382000"/>
            <a:ext cx="19050" cy="133350"/>
            <a:chOff x="0" y="0"/>
            <a:chExt cx="25400" cy="177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72575" y="8382000"/>
            <a:ext cx="19050" cy="133350"/>
            <a:chOff x="0" y="0"/>
            <a:chExt cx="25400" cy="177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810625" y="8382000"/>
            <a:ext cx="19050" cy="133350"/>
            <a:chOff x="0" y="0"/>
            <a:chExt cx="25400" cy="177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448675" y="8382000"/>
            <a:ext cx="19050" cy="133350"/>
            <a:chOff x="0" y="0"/>
            <a:chExt cx="25400" cy="177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086725" y="8382000"/>
            <a:ext cx="19050" cy="247650"/>
            <a:chOff x="0" y="0"/>
            <a:chExt cx="25400" cy="330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400" cy="330200"/>
            </a:xfrm>
            <a:custGeom>
              <a:avLst/>
              <a:gdLst/>
              <a:ahLst/>
              <a:cxnLst/>
              <a:rect r="r" b="b" t="t" l="l"/>
              <a:pathLst>
                <a:path h="330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>
                <a:alpha val="8000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54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724775" y="8382000"/>
            <a:ext cx="19050" cy="133350"/>
            <a:chOff x="0" y="0"/>
            <a:chExt cx="25400" cy="177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362825" y="8382000"/>
            <a:ext cx="19050" cy="133350"/>
            <a:chOff x="0" y="0"/>
            <a:chExt cx="25400" cy="177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000875" y="8382000"/>
            <a:ext cx="19050" cy="133350"/>
            <a:chOff x="0" y="0"/>
            <a:chExt cx="25400" cy="177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638925" y="8382000"/>
            <a:ext cx="19050" cy="133350"/>
            <a:chOff x="0" y="0"/>
            <a:chExt cx="25400" cy="177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276975" y="8382000"/>
            <a:ext cx="19050" cy="247650"/>
            <a:chOff x="0" y="0"/>
            <a:chExt cx="25400" cy="3302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400" cy="330200"/>
            </a:xfrm>
            <a:custGeom>
              <a:avLst/>
              <a:gdLst/>
              <a:ahLst/>
              <a:cxnLst/>
              <a:rect r="r" b="b" t="t" l="l"/>
              <a:pathLst>
                <a:path h="330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>
                <a:alpha val="80000"/>
              </a:srgbClr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54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915025" y="8382000"/>
            <a:ext cx="19050" cy="133350"/>
            <a:chOff x="0" y="0"/>
            <a:chExt cx="25400" cy="177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553075" y="8382000"/>
            <a:ext cx="19050" cy="133350"/>
            <a:chOff x="0" y="0"/>
            <a:chExt cx="25400" cy="177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191125" y="8382000"/>
            <a:ext cx="19050" cy="133350"/>
            <a:chOff x="0" y="0"/>
            <a:chExt cx="25400" cy="177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829175" y="8382000"/>
            <a:ext cx="19050" cy="133350"/>
            <a:chOff x="0" y="0"/>
            <a:chExt cx="25400" cy="1778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467225" y="8382000"/>
            <a:ext cx="19050" cy="247650"/>
            <a:chOff x="0" y="0"/>
            <a:chExt cx="25400" cy="330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5400" cy="330200"/>
            </a:xfrm>
            <a:custGeom>
              <a:avLst/>
              <a:gdLst/>
              <a:ahLst/>
              <a:cxnLst/>
              <a:rect r="r" b="b" t="t" l="l"/>
              <a:pathLst>
                <a:path h="330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>
                <a:alpha val="80000"/>
              </a:srgbClr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54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105275" y="8382000"/>
            <a:ext cx="19050" cy="133350"/>
            <a:chOff x="0" y="0"/>
            <a:chExt cx="25400" cy="1778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3743325" y="8382000"/>
            <a:ext cx="19050" cy="133350"/>
            <a:chOff x="0" y="0"/>
            <a:chExt cx="25400" cy="1778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3381375" y="8382000"/>
            <a:ext cx="19050" cy="133350"/>
            <a:chOff x="0" y="0"/>
            <a:chExt cx="25400" cy="177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3019425" y="8382000"/>
            <a:ext cx="19050" cy="133350"/>
            <a:chOff x="0" y="0"/>
            <a:chExt cx="25400" cy="1778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5400" cy="177800"/>
            </a:xfrm>
            <a:custGeom>
              <a:avLst/>
              <a:gdLst/>
              <a:ahLst/>
              <a:cxnLst/>
              <a:rect r="r" b="b" t="t" l="l"/>
              <a:pathLst>
                <a:path h="1778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6B5780">
                <a:alpha val="60000"/>
              </a:srgbClr>
            </a:solid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54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192000" y="3200400"/>
            <a:ext cx="571500" cy="171450"/>
            <a:chOff x="0" y="0"/>
            <a:chExt cx="762000" cy="2286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487150" y="3200400"/>
            <a:ext cx="571500" cy="171450"/>
            <a:chOff x="0" y="0"/>
            <a:chExt cx="762000" cy="2286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782300" y="3200400"/>
            <a:ext cx="571500" cy="171450"/>
            <a:chOff x="0" y="0"/>
            <a:chExt cx="762000" cy="2286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077450" y="3200400"/>
            <a:ext cx="571500" cy="171450"/>
            <a:chOff x="0" y="0"/>
            <a:chExt cx="762000" cy="2286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372600" y="3200400"/>
            <a:ext cx="571500" cy="171450"/>
            <a:chOff x="0" y="0"/>
            <a:chExt cx="762000" cy="2286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8667750" y="3200400"/>
            <a:ext cx="571500" cy="171450"/>
            <a:chOff x="0" y="0"/>
            <a:chExt cx="762000" cy="2286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7962900" y="3200400"/>
            <a:ext cx="571500" cy="171450"/>
            <a:chOff x="0" y="0"/>
            <a:chExt cx="762000" cy="2286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7258050" y="3200400"/>
            <a:ext cx="571500" cy="171450"/>
            <a:chOff x="0" y="0"/>
            <a:chExt cx="762000" cy="2286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6553200" y="3200400"/>
            <a:ext cx="571500" cy="171450"/>
            <a:chOff x="0" y="0"/>
            <a:chExt cx="762000" cy="2286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762000" cy="228600"/>
            </a:xfrm>
            <a:custGeom>
              <a:avLst/>
              <a:gdLst/>
              <a:ahLst/>
              <a:cxnLst/>
              <a:rect r="r" b="b" t="t" l="l"/>
              <a:pathLst>
                <a:path h="228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3E3E3">
                <a:alpha val="84706"/>
              </a:srgbClr>
            </a:solid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762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5240000" y="4210050"/>
            <a:ext cx="1905000" cy="323850"/>
            <a:chOff x="0" y="0"/>
            <a:chExt cx="2540000" cy="4318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540000" cy="431800"/>
            </a:xfrm>
            <a:custGeom>
              <a:avLst/>
              <a:gdLst/>
              <a:ahLst/>
              <a:cxnLst/>
              <a:rect r="r" b="b" t="t" l="l"/>
              <a:pathLst>
                <a:path h="431800" w="2540000">
                  <a:moveTo>
                    <a:pt x="69088" y="0"/>
                  </a:moveTo>
                  <a:lnTo>
                    <a:pt x="2470912" y="0"/>
                  </a:lnTo>
                  <a:cubicBezTo>
                    <a:pt x="2509068" y="0"/>
                    <a:pt x="2540000" y="30932"/>
                    <a:pt x="2540000" y="69088"/>
                  </a:cubicBezTo>
                  <a:lnTo>
                    <a:pt x="2540000" y="362712"/>
                  </a:lnTo>
                  <a:cubicBezTo>
                    <a:pt x="2540000" y="400868"/>
                    <a:pt x="2509068" y="431800"/>
                    <a:pt x="2470912" y="431800"/>
                  </a:cubicBezTo>
                  <a:lnTo>
                    <a:pt x="69088" y="431800"/>
                  </a:lnTo>
                  <a:cubicBezTo>
                    <a:pt x="30932" y="431800"/>
                    <a:pt x="0" y="400868"/>
                    <a:pt x="0" y="362712"/>
                  </a:cubicBezTo>
                  <a:lnTo>
                    <a:pt x="0" y="69088"/>
                  </a:lnTo>
                  <a:cubicBezTo>
                    <a:pt x="0" y="30932"/>
                    <a:pt x="30932" y="0"/>
                    <a:pt x="69088" y="0"/>
                  </a:cubicBez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25400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2230100" y="5448300"/>
            <a:ext cx="533400" cy="419100"/>
            <a:chOff x="0" y="0"/>
            <a:chExt cx="711200" cy="55880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1544300" y="5448300"/>
            <a:ext cx="533400" cy="419100"/>
            <a:chOff x="0" y="0"/>
            <a:chExt cx="711200" cy="5588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0858500" y="5448300"/>
            <a:ext cx="533400" cy="419100"/>
            <a:chOff x="0" y="0"/>
            <a:chExt cx="711200" cy="55880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172700" y="5448300"/>
            <a:ext cx="533400" cy="419100"/>
            <a:chOff x="0" y="0"/>
            <a:chExt cx="711200" cy="5588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486900" y="5448300"/>
            <a:ext cx="533400" cy="419100"/>
            <a:chOff x="0" y="0"/>
            <a:chExt cx="711200" cy="55880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8801100" y="5448300"/>
            <a:ext cx="533400" cy="419100"/>
            <a:chOff x="0" y="0"/>
            <a:chExt cx="711200" cy="55880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8820150" y="5467350"/>
            <a:ext cx="495300" cy="381000"/>
            <a:chOff x="0" y="0"/>
            <a:chExt cx="660400" cy="50800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60400" cy="508000"/>
            </a:xfrm>
            <a:custGeom>
              <a:avLst/>
              <a:gdLst/>
              <a:ahLst/>
              <a:cxnLst/>
              <a:rect r="r" b="b" t="t" l="l"/>
              <a:pathLst>
                <a:path h="5080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660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8115300" y="5448300"/>
            <a:ext cx="533400" cy="419100"/>
            <a:chOff x="0" y="0"/>
            <a:chExt cx="711200" cy="5588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8134350" y="5467350"/>
            <a:ext cx="495300" cy="381000"/>
            <a:chOff x="0" y="0"/>
            <a:chExt cx="660400" cy="5080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60400" cy="508000"/>
            </a:xfrm>
            <a:custGeom>
              <a:avLst/>
              <a:gdLst/>
              <a:ahLst/>
              <a:cxnLst/>
              <a:rect r="r" b="b" t="t" l="l"/>
              <a:pathLst>
                <a:path h="5080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660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7429500" y="5448300"/>
            <a:ext cx="533400" cy="419100"/>
            <a:chOff x="0" y="0"/>
            <a:chExt cx="711200" cy="55880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7448550" y="5467350"/>
            <a:ext cx="495300" cy="381000"/>
            <a:chOff x="0" y="0"/>
            <a:chExt cx="660400" cy="50800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660400" cy="508000"/>
            </a:xfrm>
            <a:custGeom>
              <a:avLst/>
              <a:gdLst/>
              <a:ahLst/>
              <a:cxnLst/>
              <a:rect r="r" b="b" t="t" l="l"/>
              <a:pathLst>
                <a:path h="5080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660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6743700" y="5448300"/>
            <a:ext cx="533400" cy="419100"/>
            <a:chOff x="0" y="0"/>
            <a:chExt cx="711200" cy="55880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71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7112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6762750" y="5467350"/>
            <a:ext cx="495300" cy="381000"/>
            <a:chOff x="0" y="0"/>
            <a:chExt cx="660400" cy="50800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660400" cy="508000"/>
            </a:xfrm>
            <a:custGeom>
              <a:avLst/>
              <a:gdLst/>
              <a:ahLst/>
              <a:cxnLst/>
              <a:rect r="r" b="b" t="t" l="l"/>
              <a:pathLst>
                <a:path h="5080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660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9525000" y="7334250"/>
            <a:ext cx="38100" cy="1047750"/>
            <a:chOff x="0" y="0"/>
            <a:chExt cx="50800" cy="139700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508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508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9315450" y="7296150"/>
            <a:ext cx="457200" cy="38100"/>
            <a:chOff x="0" y="0"/>
            <a:chExt cx="609600" cy="5080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609600" cy="50800"/>
            </a:xfrm>
            <a:custGeom>
              <a:avLst/>
              <a:gdLst/>
              <a:ahLst/>
              <a:cxnLst/>
              <a:rect r="r" b="b" t="t" l="l"/>
              <a:pathLst>
                <a:path h="50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609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0" id="200"/>
          <p:cNvSpPr txBox="true"/>
          <p:nvPr/>
        </p:nvSpPr>
        <p:spPr>
          <a:xfrm rot="0">
            <a:off x="6667500" y="1123950"/>
            <a:ext cx="1047750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59"/>
              </a:lnSpc>
            </a:pPr>
            <a:r>
              <a:rPr lang="en-US" sz="6300">
                <a:solidFill>
                  <a:srgbClr val="FCFAF8"/>
                </a:solidFill>
                <a:latin typeface="Arimo"/>
                <a:ea typeface="Arimo"/>
                <a:cs typeface="Arimo"/>
                <a:sym typeface="Arimo"/>
              </a:rPr>
              <a:t>Risk × Reliability × Time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6667500" y="2181225"/>
            <a:ext cx="10477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149"/>
              </a:lnSpc>
            </a:pPr>
            <a:r>
              <a:rPr lang="ar-EG" sz="22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الخطورة × موثوقية المعلومات × التوقيت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13144500" y="2847975"/>
            <a:ext cx="40005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R I S K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13144500" y="3057525"/>
            <a:ext cx="4000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60"/>
              </a:lnSpc>
            </a:pPr>
            <a:r>
              <a:rPr lang="ar-EG" sz="2550">
                <a:solidFill>
                  <a:srgbClr val="FCFAF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مستوى الخطورة</a:t>
            </a:r>
          </a:p>
        </p:txBody>
      </p:sp>
      <p:sp>
        <p:nvSpPr>
          <p:cNvPr name="TextBox 204" id="204"/>
          <p:cNvSpPr txBox="true"/>
          <p:nvPr/>
        </p:nvSpPr>
        <p:spPr>
          <a:xfrm rot="0">
            <a:off x="13144500" y="3533775"/>
            <a:ext cx="400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00"/>
              </a:lnSpc>
            </a:pPr>
            <a:r>
              <a:rPr lang="ar-EG" sz="150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ما الذي قد تشير إليه المعلومات المتاحة؟</a:t>
            </a:r>
          </a:p>
        </p:txBody>
      </p:sp>
      <p:sp>
        <p:nvSpPr>
          <p:cNvPr name="TextBox 205" id="205"/>
          <p:cNvSpPr txBox="true"/>
          <p:nvPr/>
        </p:nvSpPr>
        <p:spPr>
          <a:xfrm rot="0">
            <a:off x="15240000" y="4267200"/>
            <a:ext cx="1905000" cy="17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5"/>
              </a:lnSpc>
            </a:pPr>
            <a:r>
              <a:rPr lang="en-US" sz="1050" b="true">
                <a:solidFill>
                  <a:srgbClr val="261E2D"/>
                </a:solidFill>
                <a:latin typeface="Arimo Bold"/>
                <a:ea typeface="Arimo Bold"/>
                <a:cs typeface="Arimo Bold"/>
                <a:sym typeface="Arimo Bold"/>
              </a:rPr>
              <a:t>SIMULATED  |  </a:t>
            </a:r>
            <a:r>
              <a:rPr lang="ar-EG" sz="1050" b="true">
                <a:solidFill>
                  <a:srgbClr val="261E2D"/>
                </a:solidFill>
                <a:latin typeface="Arimo Bold"/>
                <a:ea typeface="Arimo Bold"/>
                <a:cs typeface="Arimo Bold"/>
                <a:sym typeface="Arimo Bold"/>
                <a:rtl val="true"/>
              </a:rPr>
              <a:t>محاكاة</a:t>
            </a:r>
          </a:p>
        </p:txBody>
      </p:sp>
      <p:sp>
        <p:nvSpPr>
          <p:cNvPr name="TextBox 206" id="206"/>
          <p:cNvSpPr txBox="true"/>
          <p:nvPr/>
        </p:nvSpPr>
        <p:spPr>
          <a:xfrm rot="0">
            <a:off x="13144500" y="5133975"/>
            <a:ext cx="40005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R E L I A B I L I T Y</a:t>
            </a:r>
          </a:p>
        </p:txBody>
      </p:sp>
      <p:sp>
        <p:nvSpPr>
          <p:cNvPr name="TextBox 207" id="207"/>
          <p:cNvSpPr txBox="true"/>
          <p:nvPr/>
        </p:nvSpPr>
        <p:spPr>
          <a:xfrm rot="0">
            <a:off x="13144500" y="5343525"/>
            <a:ext cx="4000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60"/>
              </a:lnSpc>
            </a:pPr>
            <a:r>
              <a:rPr lang="ar-EG" sz="2550">
                <a:solidFill>
                  <a:srgbClr val="FCFAF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موثوقية المعلومات</a:t>
            </a:r>
          </a:p>
        </p:txBody>
      </p:sp>
      <p:sp>
        <p:nvSpPr>
          <p:cNvPr name="TextBox 208" id="208"/>
          <p:cNvSpPr txBox="true"/>
          <p:nvPr/>
        </p:nvSpPr>
        <p:spPr>
          <a:xfrm rot="0">
            <a:off x="13144500" y="5819775"/>
            <a:ext cx="4000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00"/>
              </a:lnSpc>
            </a:pPr>
            <a:r>
              <a:rPr lang="ar-EG" sz="150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هل لدينا معلومات كافية؟</a:t>
            </a:r>
          </a:p>
        </p:txBody>
      </p:sp>
      <p:sp>
        <p:nvSpPr>
          <p:cNvPr name="TextBox 209" id="209"/>
          <p:cNvSpPr txBox="true"/>
          <p:nvPr/>
        </p:nvSpPr>
        <p:spPr>
          <a:xfrm rot="0">
            <a:off x="8953500" y="5953125"/>
            <a:ext cx="381000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5 </a:t>
            </a:r>
            <a:r>
              <a:rPr lang="ar-EG" sz="13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متوفرة  ·  </a:t>
            </a:r>
            <a:r>
              <a:rPr lang="en-US" sz="13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r>
              <a:rPr lang="ar-EG" sz="13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 غير متوفرة</a:t>
            </a:r>
          </a:p>
        </p:txBody>
      </p:sp>
      <p:sp>
        <p:nvSpPr>
          <p:cNvPr name="TextBox 210" id="210"/>
          <p:cNvSpPr txBox="true"/>
          <p:nvPr/>
        </p:nvSpPr>
        <p:spPr>
          <a:xfrm rot="0">
            <a:off x="13144500" y="6657975"/>
            <a:ext cx="40005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T I M E</a:t>
            </a:r>
          </a:p>
        </p:txBody>
      </p:sp>
      <p:sp>
        <p:nvSpPr>
          <p:cNvPr name="TextBox 211" id="211"/>
          <p:cNvSpPr txBox="true"/>
          <p:nvPr/>
        </p:nvSpPr>
        <p:spPr>
          <a:xfrm rot="0">
            <a:off x="13144500" y="6867525"/>
            <a:ext cx="4000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60"/>
              </a:lnSpc>
            </a:pPr>
            <a:r>
              <a:rPr lang="ar-EG" sz="2550">
                <a:solidFill>
                  <a:srgbClr val="FCFAF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التوقيت</a:t>
            </a:r>
          </a:p>
        </p:txBody>
      </p:sp>
      <p:sp>
        <p:nvSpPr>
          <p:cNvPr name="TextBox 212" id="212"/>
          <p:cNvSpPr txBox="true"/>
          <p:nvPr/>
        </p:nvSpPr>
        <p:spPr>
          <a:xfrm rot="0">
            <a:off x="13144500" y="7343775"/>
            <a:ext cx="40005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00"/>
              </a:lnSpc>
            </a:pPr>
            <a:r>
              <a:rPr lang="ar-EG" sz="150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متى يتم تفسير هذه المعلومات؟ بحسب مرحلة الحمل.</a:t>
            </a:r>
          </a:p>
        </p:txBody>
      </p:sp>
      <p:sp>
        <p:nvSpPr>
          <p:cNvPr name="TextBox 213" id="213"/>
          <p:cNvSpPr txBox="true"/>
          <p:nvPr/>
        </p:nvSpPr>
        <p:spPr>
          <a:xfrm rot="0">
            <a:off x="13335000" y="8686800"/>
            <a:ext cx="3810000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560"/>
              </a:lnSpc>
            </a:pPr>
            <a:r>
              <a:rPr lang="ar-EG" sz="1200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مرحلة الحمل</a:t>
            </a:r>
          </a:p>
        </p:txBody>
      </p:sp>
      <p:sp>
        <p:nvSpPr>
          <p:cNvPr name="TextBox 214" id="214"/>
          <p:cNvSpPr txBox="true"/>
          <p:nvPr/>
        </p:nvSpPr>
        <p:spPr>
          <a:xfrm rot="0">
            <a:off x="4762500" y="9296400"/>
            <a:ext cx="123825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995"/>
              </a:lnSpc>
            </a:pPr>
            <a:r>
              <a:rPr lang="ar-EG" sz="1425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مستوى الخطورة في النموذج الأولي نتيجة محاكاة ثابتة للعرض، وليست تنبؤًا سريريًا معتمدًا.</a:t>
            </a:r>
          </a:p>
        </p:txBody>
      </p:sp>
      <p:sp>
        <p:nvSpPr>
          <p:cNvPr name="TextBox 215" id="215"/>
          <p:cNvSpPr txBox="true"/>
          <p:nvPr/>
        </p:nvSpPr>
        <p:spPr>
          <a:xfrm rot="0">
            <a:off x="1143000" y="847725"/>
            <a:ext cx="1905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1E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19462" y="2171700"/>
            <a:ext cx="12230100" cy="6896100"/>
            <a:chOff x="0" y="0"/>
            <a:chExt cx="16306800" cy="9194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06800" cy="9194800"/>
            </a:xfrm>
            <a:custGeom>
              <a:avLst/>
              <a:gdLst/>
              <a:ahLst/>
              <a:cxnLst/>
              <a:rect r="r" b="b" t="t" l="l"/>
              <a:pathLst>
                <a:path h="9194800" w="16306800">
                  <a:moveTo>
                    <a:pt x="16459" y="0"/>
                  </a:moveTo>
                  <a:lnTo>
                    <a:pt x="16290342" y="0"/>
                  </a:lnTo>
                  <a:cubicBezTo>
                    <a:pt x="16299431" y="0"/>
                    <a:pt x="16306800" y="7369"/>
                    <a:pt x="16306800" y="16459"/>
                  </a:cubicBezTo>
                  <a:lnTo>
                    <a:pt x="16306800" y="9178341"/>
                  </a:lnTo>
                  <a:cubicBezTo>
                    <a:pt x="16306800" y="9187431"/>
                    <a:pt x="16299431" y="9194800"/>
                    <a:pt x="16290342" y="9194800"/>
                  </a:cubicBezTo>
                  <a:lnTo>
                    <a:pt x="16459" y="9194800"/>
                  </a:lnTo>
                  <a:cubicBezTo>
                    <a:pt x="7369" y="9194800"/>
                    <a:pt x="0" y="9187431"/>
                    <a:pt x="0" y="9178341"/>
                  </a:cubicBezTo>
                  <a:lnTo>
                    <a:pt x="0" y="16459"/>
                  </a:lnTo>
                  <a:cubicBezTo>
                    <a:pt x="0" y="7369"/>
                    <a:pt x="7369" y="0"/>
                    <a:pt x="16459" y="0"/>
                  </a:cubicBezTo>
                  <a:close/>
                </a:path>
              </a:pathLst>
            </a:custGeom>
            <a:solidFill>
              <a:srgbClr val="6B57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306800" cy="923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19700" y="3124200"/>
            <a:ext cx="381000" cy="19050"/>
            <a:chOff x="0" y="0"/>
            <a:chExt cx="5080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19700" y="3124200"/>
            <a:ext cx="19050" cy="381000"/>
            <a:chOff x="0" y="0"/>
            <a:chExt cx="25400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97300" y="3124200"/>
            <a:ext cx="381000" cy="19050"/>
            <a:chOff x="0" y="0"/>
            <a:chExt cx="508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0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59250" y="3124200"/>
            <a:ext cx="19050" cy="381000"/>
            <a:chOff x="0" y="0"/>
            <a:chExt cx="25400" cy="50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19700" y="9429750"/>
            <a:ext cx="381000" cy="19050"/>
            <a:chOff x="0" y="0"/>
            <a:chExt cx="508000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19700" y="9067800"/>
            <a:ext cx="19050" cy="381000"/>
            <a:chOff x="0" y="0"/>
            <a:chExt cx="25400" cy="50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97300" y="9429750"/>
            <a:ext cx="381000" cy="19050"/>
            <a:chOff x="0" y="0"/>
            <a:chExt cx="508000" cy="25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0" cy="25400"/>
            </a:xfrm>
            <a:custGeom>
              <a:avLst/>
              <a:gdLst/>
              <a:ahLst/>
              <a:cxnLst/>
              <a:rect r="r" b="b" t="t" l="l"/>
              <a:pathLst>
                <a:path h="254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0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859250" y="9067800"/>
            <a:ext cx="19050" cy="381000"/>
            <a:chOff x="0" y="0"/>
            <a:chExt cx="25400" cy="508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400" cy="508000"/>
            </a:xfrm>
            <a:custGeom>
              <a:avLst/>
              <a:gdLst/>
              <a:ahLst/>
              <a:cxnLst/>
              <a:rect r="r" b="b" t="t" l="l"/>
              <a:pathLst>
                <a:path h="50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54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14500" y="7048500"/>
            <a:ext cx="14288" cy="285750"/>
            <a:chOff x="0" y="0"/>
            <a:chExt cx="19050" cy="381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0" cy="381000"/>
            </a:xfrm>
            <a:custGeom>
              <a:avLst/>
              <a:gdLst/>
              <a:ahLst/>
              <a:cxnLst/>
              <a:rect r="r" b="b" t="t" l="l"/>
              <a:pathLst>
                <a:path h="38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A796B5">
                <a:alpha val="24706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05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81200" y="7048500"/>
            <a:ext cx="14288" cy="285750"/>
            <a:chOff x="0" y="0"/>
            <a:chExt cx="19050" cy="381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50" cy="381000"/>
            </a:xfrm>
            <a:custGeom>
              <a:avLst/>
              <a:gdLst/>
              <a:ahLst/>
              <a:cxnLst/>
              <a:rect r="r" b="b" t="t" l="l"/>
              <a:pathLst>
                <a:path h="38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A796B5">
                <a:alpha val="24706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05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247900" y="7048500"/>
            <a:ext cx="14288" cy="285750"/>
            <a:chOff x="0" y="0"/>
            <a:chExt cx="19050" cy="381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" cy="381000"/>
            </a:xfrm>
            <a:custGeom>
              <a:avLst/>
              <a:gdLst/>
              <a:ahLst/>
              <a:cxnLst/>
              <a:rect r="r" b="b" t="t" l="l"/>
              <a:pathLst>
                <a:path h="38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A796B5">
                <a:alpha val="24706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905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514600" y="7048500"/>
            <a:ext cx="14288" cy="285750"/>
            <a:chOff x="0" y="0"/>
            <a:chExt cx="19050" cy="381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050" cy="381000"/>
            </a:xfrm>
            <a:custGeom>
              <a:avLst/>
              <a:gdLst/>
              <a:ahLst/>
              <a:cxnLst/>
              <a:rect r="r" b="b" t="t" l="l"/>
              <a:pathLst>
                <a:path h="38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A796B5">
                <a:alpha val="24706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05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781300" y="7048500"/>
            <a:ext cx="14288" cy="285750"/>
            <a:chOff x="0" y="0"/>
            <a:chExt cx="19050" cy="38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050" cy="381000"/>
            </a:xfrm>
            <a:custGeom>
              <a:avLst/>
              <a:gdLst/>
              <a:ahLst/>
              <a:cxnLst/>
              <a:rect r="r" b="b" t="t" l="l"/>
              <a:pathLst>
                <a:path h="38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A796B5">
                <a:alpha val="24706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905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048000" y="7048500"/>
            <a:ext cx="14288" cy="285750"/>
            <a:chOff x="0" y="0"/>
            <a:chExt cx="19050" cy="381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50" cy="381000"/>
            </a:xfrm>
            <a:custGeom>
              <a:avLst/>
              <a:gdLst/>
              <a:ahLst/>
              <a:cxnLst/>
              <a:rect r="r" b="b" t="t" l="l"/>
              <a:pathLst>
                <a:path h="381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A796B5">
                <a:alpha val="24706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905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0" id="50" descr="شعار بادرة"/>
          <p:cNvSpPr/>
          <p:nvPr/>
        </p:nvSpPr>
        <p:spPr>
          <a:xfrm flipH="false" flipV="false" rot="0">
            <a:off x="1905000" y="6000750"/>
            <a:ext cx="409575" cy="609600"/>
          </a:xfrm>
          <a:custGeom>
            <a:avLst/>
            <a:gdLst/>
            <a:ahLst/>
            <a:cxnLst/>
            <a:rect r="r" b="b" t="t" l="l"/>
            <a:pathLst>
              <a:path h="609600" w="409575">
                <a:moveTo>
                  <a:pt x="0" y="0"/>
                </a:moveTo>
                <a:lnTo>
                  <a:pt x="409575" y="0"/>
                </a:lnTo>
                <a:lnTo>
                  <a:pt x="4095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" t="0" r="-436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4079820" y="3563812"/>
            <a:ext cx="13084230" cy="4873876"/>
          </a:xfrm>
          <a:custGeom>
            <a:avLst/>
            <a:gdLst/>
            <a:ahLst/>
            <a:cxnLst/>
            <a:rect r="r" b="b" t="t" l="l"/>
            <a:pathLst>
              <a:path h="4873876" w="13084230">
                <a:moveTo>
                  <a:pt x="0" y="0"/>
                </a:moveTo>
                <a:lnTo>
                  <a:pt x="13084230" y="0"/>
                </a:lnTo>
                <a:lnTo>
                  <a:pt x="13084230" y="4873876"/>
                </a:lnTo>
                <a:lnTo>
                  <a:pt x="0" y="4873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1430000" y="981075"/>
            <a:ext cx="5715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L I V E   D E M 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238750" y="1352550"/>
            <a:ext cx="119062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6480"/>
              </a:lnSpc>
            </a:pPr>
            <a:r>
              <a:rPr lang="ar-EG" sz="5400">
                <a:solidFill>
                  <a:srgbClr val="FCFAF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بادرة، كما تعمل فعليًا.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335000" y="9848850"/>
            <a:ext cx="3810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badira-ai.netlify.app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3000" y="847725"/>
            <a:ext cx="1905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4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0" y="3048000"/>
            <a:ext cx="190500" cy="14288"/>
            <a:chOff x="0" y="0"/>
            <a:chExt cx="254000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48750" y="3409950"/>
            <a:ext cx="190500" cy="14288"/>
            <a:chOff x="0" y="0"/>
            <a:chExt cx="2540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0" y="3771900"/>
            <a:ext cx="190500" cy="14288"/>
            <a:chOff x="0" y="0"/>
            <a:chExt cx="254000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48750" y="4133850"/>
            <a:ext cx="190500" cy="14288"/>
            <a:chOff x="0" y="0"/>
            <a:chExt cx="2540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48750" y="4495800"/>
            <a:ext cx="190500" cy="14288"/>
            <a:chOff x="0" y="0"/>
            <a:chExt cx="254000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48750" y="4857750"/>
            <a:ext cx="190500" cy="14288"/>
            <a:chOff x="0" y="0"/>
            <a:chExt cx="2540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48750" y="5219700"/>
            <a:ext cx="190500" cy="14288"/>
            <a:chOff x="0" y="0"/>
            <a:chExt cx="254000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48750" y="5581650"/>
            <a:ext cx="190500" cy="14288"/>
            <a:chOff x="0" y="0"/>
            <a:chExt cx="254000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48750" y="5943600"/>
            <a:ext cx="190500" cy="14288"/>
            <a:chOff x="0" y="0"/>
            <a:chExt cx="2540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48750" y="6305550"/>
            <a:ext cx="190500" cy="14288"/>
            <a:chOff x="0" y="0"/>
            <a:chExt cx="254000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48750" y="6667500"/>
            <a:ext cx="190500" cy="14288"/>
            <a:chOff x="0" y="0"/>
            <a:chExt cx="254000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48750" y="7029450"/>
            <a:ext cx="190500" cy="14288"/>
            <a:chOff x="0" y="0"/>
            <a:chExt cx="254000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48750" y="7391400"/>
            <a:ext cx="190500" cy="14288"/>
            <a:chOff x="0" y="0"/>
            <a:chExt cx="254000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48750" y="7753350"/>
            <a:ext cx="190500" cy="14288"/>
            <a:chOff x="0" y="0"/>
            <a:chExt cx="254000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4000" cy="19050"/>
            </a:xfrm>
            <a:custGeom>
              <a:avLst/>
              <a:gdLst/>
              <a:ahLst/>
              <a:cxnLst/>
              <a:rect r="r" b="b" t="t" l="l"/>
              <a:pathLst>
                <a:path h="1905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796B5">
                <a:alpha val="44706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54000" cy="5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954500" y="3810000"/>
            <a:ext cx="95250" cy="647700"/>
            <a:chOff x="0" y="0"/>
            <a:chExt cx="127000" cy="863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7000" cy="863600"/>
            </a:xfrm>
            <a:custGeom>
              <a:avLst/>
              <a:gdLst/>
              <a:ahLst/>
              <a:cxnLst/>
              <a:rect r="r" b="b" t="t" l="l"/>
              <a:pathLst>
                <a:path h="8636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3B2F4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270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954500" y="4505325"/>
            <a:ext cx="95250" cy="647700"/>
            <a:chOff x="0" y="0"/>
            <a:chExt cx="127000" cy="863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7000" cy="863600"/>
            </a:xfrm>
            <a:custGeom>
              <a:avLst/>
              <a:gdLst/>
              <a:ahLst/>
              <a:cxnLst/>
              <a:rect r="r" b="b" t="t" l="l"/>
              <a:pathLst>
                <a:path h="8636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3B2F45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270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54500" y="5200650"/>
            <a:ext cx="95250" cy="647700"/>
            <a:chOff x="0" y="0"/>
            <a:chExt cx="127000" cy="863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7000" cy="863600"/>
            </a:xfrm>
            <a:custGeom>
              <a:avLst/>
              <a:gdLst/>
              <a:ahLst/>
              <a:cxnLst/>
              <a:rect r="r" b="b" t="t" l="l"/>
              <a:pathLst>
                <a:path h="8636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3B2F45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270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954500" y="5895975"/>
            <a:ext cx="95250" cy="647700"/>
            <a:chOff x="0" y="0"/>
            <a:chExt cx="127000" cy="863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7000" cy="863600"/>
            </a:xfrm>
            <a:custGeom>
              <a:avLst/>
              <a:gdLst/>
              <a:ahLst/>
              <a:cxnLst/>
              <a:rect r="r" b="b" t="t" l="l"/>
              <a:pathLst>
                <a:path h="8636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3B2F45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270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54500" y="6591300"/>
            <a:ext cx="95250" cy="647700"/>
            <a:chOff x="0" y="0"/>
            <a:chExt cx="127000" cy="863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7000" cy="863600"/>
            </a:xfrm>
            <a:custGeom>
              <a:avLst/>
              <a:gdLst/>
              <a:ahLst/>
              <a:cxnLst/>
              <a:rect r="r" b="b" t="t" l="l"/>
              <a:pathLst>
                <a:path h="8636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3B2F45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270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572500" y="4076700"/>
            <a:ext cx="95250" cy="95250"/>
            <a:chOff x="0" y="0"/>
            <a:chExt cx="127000" cy="127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6E6478">
                <a:alpha val="4000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572500" y="4743450"/>
            <a:ext cx="95250" cy="95250"/>
            <a:chOff x="0" y="0"/>
            <a:chExt cx="127000" cy="127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6E6478">
                <a:alpha val="4000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572500" y="5410200"/>
            <a:ext cx="95250" cy="95250"/>
            <a:chOff x="0" y="0"/>
            <a:chExt cx="127000" cy="127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6E6478">
                <a:alpha val="40000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572500" y="6096000"/>
            <a:ext cx="95250" cy="95250"/>
            <a:chOff x="0" y="0"/>
            <a:chExt cx="127000" cy="127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0"/>
                  </a:moveTo>
                  <a:lnTo>
                    <a:pt x="127000" y="0"/>
                  </a:lnTo>
                  <a:lnTo>
                    <a:pt x="127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6E6478">
                <a:alpha val="40000"/>
              </a:srgbClr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125950" y="8763000"/>
            <a:ext cx="14288" cy="247650"/>
            <a:chOff x="0" y="0"/>
            <a:chExt cx="19050" cy="330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050" cy="330200"/>
            </a:xfrm>
            <a:custGeom>
              <a:avLst/>
              <a:gdLst/>
              <a:ahLst/>
              <a:cxnLst/>
              <a:rect r="r" b="b" t="t" l="l"/>
              <a:pathLst>
                <a:path h="330200" w="19050">
                  <a:moveTo>
                    <a:pt x="0" y="0"/>
                  </a:moveTo>
                  <a:lnTo>
                    <a:pt x="19050" y="0"/>
                  </a:lnTo>
                  <a:lnTo>
                    <a:pt x="1905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905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5715000" y="1304925"/>
            <a:ext cx="114300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280"/>
              </a:lnSpc>
            </a:pPr>
            <a:r>
              <a:rPr lang="ar-EG" sz="6900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الموقع التنافسي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15500" y="3028950"/>
            <a:ext cx="74295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00"/>
              </a:lnSpc>
            </a:pPr>
            <a:r>
              <a:rPr lang="ar-EG" sz="3000" b="true">
                <a:solidFill>
                  <a:srgbClr val="3B2F45"/>
                </a:solidFill>
                <a:latin typeface="Arimo Bold"/>
                <a:ea typeface="Arimo Bold"/>
                <a:cs typeface="Arimo Bold"/>
                <a:sym typeface="Arimo Bold"/>
                <a:rtl val="true"/>
              </a:rPr>
              <a:t>بادرة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477500" y="3962400"/>
            <a:ext cx="6238875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40"/>
              </a:lnSpc>
            </a:pPr>
            <a:r>
              <a:rPr lang="ar-EG" sz="1800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عربي + </a:t>
            </a:r>
            <a:r>
              <a:rPr lang="en-US" sz="1800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</a:rPr>
              <a:t>English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477500" y="4657725"/>
            <a:ext cx="6238875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40"/>
              </a:lnSpc>
            </a:pPr>
            <a:r>
              <a:rPr lang="ar-EG" sz="1800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موثوقية المعلومات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477500" y="5353050"/>
            <a:ext cx="6238875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40"/>
              </a:lnSpc>
            </a:pPr>
            <a:r>
              <a:rPr lang="ar-EG" sz="1800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إظهار المعلومات الناقصة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477500" y="6048375"/>
            <a:ext cx="6238875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40"/>
              </a:lnSpc>
            </a:pPr>
            <a:r>
              <a:rPr lang="ar-EG" sz="1800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التوقيت حسب مرحلة الحمل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477500" y="6743700"/>
            <a:ext cx="6238875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40"/>
              </a:lnSpc>
            </a:pPr>
            <a:r>
              <a:rPr lang="ar-EG" sz="1800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ملخص منظم قابل للمشاركة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905000" y="3962400"/>
            <a:ext cx="6477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45"/>
              </a:lnSpc>
            </a:pPr>
            <a:r>
              <a:rPr lang="ar-EG" sz="165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تطبيقات الحمل العامة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905000" y="4629150"/>
            <a:ext cx="6477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45"/>
              </a:lnSpc>
            </a:pPr>
            <a:r>
              <a:rPr lang="ar-EG" sz="165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منصات الصحة الرقمية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905000" y="5295900"/>
            <a:ext cx="6477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45"/>
              </a:lnSpc>
            </a:pPr>
            <a:r>
              <a:rPr lang="ar-EG" sz="165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أدوات الفحص والمتابعة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905000" y="5962650"/>
            <a:ext cx="647700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800" b="true">
                <a:solidFill>
                  <a:srgbClr val="5E5566"/>
                </a:solidFill>
                <a:latin typeface="Arimo Bold"/>
                <a:ea typeface="Arimo Bold"/>
                <a:cs typeface="Arimo Bold"/>
                <a:sym typeface="Arimo Bold"/>
              </a:rPr>
              <a:t>Materna BP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905000" y="6343650"/>
            <a:ext cx="64770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784"/>
              </a:lnSpc>
            </a:pPr>
            <a:r>
              <a:rPr lang="ar-EG" sz="1275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أقرب منافس مباشر، ويركّز على تقييم ومتابعة ارتفاع ضغط الدم الحملي وتسمم الحمل.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953750" y="9105900"/>
            <a:ext cx="619125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40"/>
              </a:lnSpc>
            </a:pPr>
            <a:r>
              <a:rPr lang="ar-EG" sz="1800">
                <a:solidFill>
                  <a:srgbClr val="5E5566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وأين يمكن أن يستمر هذا العمل؟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43000" y="847725"/>
            <a:ext cx="1905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3B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E3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667500"/>
            <a:ext cx="18288000" cy="3619500"/>
            <a:chOff x="0" y="0"/>
            <a:chExt cx="24384000" cy="48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F7F4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49750" y="5476875"/>
            <a:ext cx="28575" cy="571500"/>
            <a:chOff x="0" y="0"/>
            <a:chExt cx="381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A796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62500" y="4095750"/>
            <a:ext cx="3048000" cy="495300"/>
            <a:chOff x="0" y="0"/>
            <a:chExt cx="4064000" cy="660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0" cy="660400"/>
            </a:xfrm>
            <a:custGeom>
              <a:avLst/>
              <a:gdLst/>
              <a:ahLst/>
              <a:cxnLst/>
              <a:rect r="r" b="b" t="t" l="l"/>
              <a:pathLst>
                <a:path h="660400" w="4064000">
                  <a:moveTo>
                    <a:pt x="66040" y="0"/>
                  </a:moveTo>
                  <a:lnTo>
                    <a:pt x="3997960" y="0"/>
                  </a:lnTo>
                  <a:cubicBezTo>
                    <a:pt x="4034433" y="0"/>
                    <a:pt x="4064000" y="29567"/>
                    <a:pt x="4064000" y="66040"/>
                  </a:cubicBezTo>
                  <a:lnTo>
                    <a:pt x="4064000" y="594360"/>
                  </a:lnTo>
                  <a:cubicBezTo>
                    <a:pt x="4064000" y="630833"/>
                    <a:pt x="4034433" y="660400"/>
                    <a:pt x="3997960" y="660400"/>
                  </a:cubicBezTo>
                  <a:lnTo>
                    <a:pt x="66040" y="660400"/>
                  </a:lnTo>
                  <a:cubicBezTo>
                    <a:pt x="29567" y="660400"/>
                    <a:pt x="0" y="630833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EFE7E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62500" y="4762500"/>
            <a:ext cx="3048000" cy="495300"/>
            <a:chOff x="0" y="0"/>
            <a:chExt cx="4064000" cy="66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0" cy="660400"/>
            </a:xfrm>
            <a:custGeom>
              <a:avLst/>
              <a:gdLst/>
              <a:ahLst/>
              <a:cxnLst/>
              <a:rect r="r" b="b" t="t" l="l"/>
              <a:pathLst>
                <a:path h="660400" w="4064000">
                  <a:moveTo>
                    <a:pt x="66040" y="0"/>
                  </a:moveTo>
                  <a:lnTo>
                    <a:pt x="3997960" y="0"/>
                  </a:lnTo>
                  <a:cubicBezTo>
                    <a:pt x="4034433" y="0"/>
                    <a:pt x="4064000" y="29567"/>
                    <a:pt x="4064000" y="66040"/>
                  </a:cubicBezTo>
                  <a:lnTo>
                    <a:pt x="4064000" y="594360"/>
                  </a:lnTo>
                  <a:cubicBezTo>
                    <a:pt x="4064000" y="630833"/>
                    <a:pt x="4034433" y="660400"/>
                    <a:pt x="3997960" y="660400"/>
                  </a:cubicBezTo>
                  <a:lnTo>
                    <a:pt x="66040" y="660400"/>
                  </a:lnTo>
                  <a:cubicBezTo>
                    <a:pt x="29567" y="660400"/>
                    <a:pt x="0" y="630833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EFE7E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62500" y="5429250"/>
            <a:ext cx="3048000" cy="495300"/>
            <a:chOff x="0" y="0"/>
            <a:chExt cx="4064000" cy="660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0" cy="660400"/>
            </a:xfrm>
            <a:custGeom>
              <a:avLst/>
              <a:gdLst/>
              <a:ahLst/>
              <a:cxnLst/>
              <a:rect r="r" b="b" t="t" l="l"/>
              <a:pathLst>
                <a:path h="660400" w="4064000">
                  <a:moveTo>
                    <a:pt x="66040" y="0"/>
                  </a:moveTo>
                  <a:lnTo>
                    <a:pt x="3997960" y="0"/>
                  </a:lnTo>
                  <a:cubicBezTo>
                    <a:pt x="4034433" y="0"/>
                    <a:pt x="4064000" y="29567"/>
                    <a:pt x="4064000" y="66040"/>
                  </a:cubicBezTo>
                  <a:lnTo>
                    <a:pt x="4064000" y="594360"/>
                  </a:lnTo>
                  <a:cubicBezTo>
                    <a:pt x="4064000" y="630833"/>
                    <a:pt x="4034433" y="660400"/>
                    <a:pt x="3997960" y="660400"/>
                  </a:cubicBezTo>
                  <a:lnTo>
                    <a:pt x="66040" y="660400"/>
                  </a:lnTo>
                  <a:cubicBezTo>
                    <a:pt x="29567" y="660400"/>
                    <a:pt x="0" y="630833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EFE7E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39800" y="8096250"/>
            <a:ext cx="14288" cy="190500"/>
            <a:chOff x="0" y="0"/>
            <a:chExt cx="19050" cy="25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54100" y="8096250"/>
            <a:ext cx="14288" cy="190500"/>
            <a:chOff x="0" y="0"/>
            <a:chExt cx="19050" cy="25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868400" y="8096250"/>
            <a:ext cx="14288" cy="190500"/>
            <a:chOff x="0" y="0"/>
            <a:chExt cx="19050" cy="25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20300" y="8096250"/>
            <a:ext cx="14288" cy="190500"/>
            <a:chOff x="0" y="0"/>
            <a:chExt cx="19050" cy="25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34600" y="8096250"/>
            <a:ext cx="14288" cy="190500"/>
            <a:chOff x="0" y="0"/>
            <a:chExt cx="19050" cy="25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48900" y="8096250"/>
            <a:ext cx="14288" cy="190500"/>
            <a:chOff x="0" y="0"/>
            <a:chExt cx="19050" cy="25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00800" y="8096250"/>
            <a:ext cx="14288" cy="190500"/>
            <a:chOff x="0" y="0"/>
            <a:chExt cx="19050" cy="25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515100" y="8096250"/>
            <a:ext cx="14288" cy="190500"/>
            <a:chOff x="0" y="0"/>
            <a:chExt cx="19050" cy="254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29400" y="8096250"/>
            <a:ext cx="14288" cy="190500"/>
            <a:chOff x="0" y="0"/>
            <a:chExt cx="19050" cy="25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050" cy="254000"/>
            </a:xfrm>
            <a:custGeom>
              <a:avLst/>
              <a:gdLst/>
              <a:ahLst/>
              <a:cxnLst/>
              <a:rect r="r" b="b" t="t" l="l"/>
              <a:pathLst>
                <a:path h="254000" w="19050">
                  <a:moveTo>
                    <a:pt x="0" y="0"/>
                  </a:moveTo>
                  <a:lnTo>
                    <a:pt x="19050" y="0"/>
                  </a:lnTo>
                  <a:lnTo>
                    <a:pt x="1905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A796B5">
                <a:alpha val="6000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9050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572500" y="1981200"/>
            <a:ext cx="857250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50"/>
              </a:lnSpc>
            </a:pPr>
            <a:r>
              <a:rPr lang="en-US" sz="17250" b="true">
                <a:solidFill>
                  <a:srgbClr val="3B2F45"/>
                </a:solidFill>
                <a:latin typeface="Arimo Bold"/>
                <a:ea typeface="Arimo Bold"/>
                <a:cs typeface="Arimo Bold"/>
                <a:sym typeface="Arimo Bold"/>
              </a:rPr>
              <a:t>342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572500" y="4038600"/>
            <a:ext cx="8572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729"/>
              </a:lnSpc>
            </a:pPr>
            <a:r>
              <a:rPr lang="ar-EG" sz="1950">
                <a:solidFill>
                  <a:srgbClr val="241D2A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ابتكارًا صحيًا دعمتها منصة الابتكار الصحي التابعة لوزارة الصحة السعودية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72500" y="4914900"/>
            <a:ext cx="85725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5E5566"/>
                </a:solidFill>
                <a:latin typeface="Arimo"/>
                <a:ea typeface="Arimo"/>
                <a:cs typeface="Arimo"/>
                <a:sym typeface="Arimo"/>
              </a:rPr>
              <a:t>25 </a:t>
            </a:r>
            <a:r>
              <a:rPr lang="ar-EG" sz="1425">
                <a:solidFill>
                  <a:srgbClr val="5E5566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منها أكملت الاختبار والتحقق · يوليو </a:t>
            </a:r>
            <a:r>
              <a:rPr lang="en-US" sz="1425">
                <a:solidFill>
                  <a:srgbClr val="5E5566"/>
                </a:solidFill>
                <a:latin typeface="Arimo"/>
                <a:ea typeface="Arimo"/>
                <a:cs typeface="Arimo"/>
                <a:sym typeface="Arimo"/>
              </a:rPr>
              <a:t>2026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572500" y="5486400"/>
            <a:ext cx="828675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889"/>
              </a:lnSpc>
            </a:pPr>
            <a:r>
              <a:rPr lang="ar-EG" sz="135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مسار مستقبلي محتمل — بادرة ليست حاليًا ضمن المنصة.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762500" y="4210050"/>
            <a:ext cx="3048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50"/>
              </a:lnSpc>
            </a:pPr>
            <a:r>
              <a:rPr lang="ar-EG" sz="1500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رعاية محورها المريضة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762500" y="4876800"/>
            <a:ext cx="3048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50"/>
              </a:lnSpc>
            </a:pPr>
            <a:r>
              <a:rPr lang="ar-EG" sz="1500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الوقاية وسهولة الوصول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762500" y="5543550"/>
            <a:ext cx="3048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50"/>
              </a:lnSpc>
            </a:pPr>
            <a:r>
              <a:rPr lang="ar-EG" sz="1500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دعم قرار رقمي مسؤول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77500" y="7210425"/>
            <a:ext cx="666750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755"/>
              </a:lnSpc>
            </a:pPr>
            <a:r>
              <a:rPr lang="ar-EG" sz="135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الأشهر الثلاثة القادمة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001750" y="7724775"/>
            <a:ext cx="3143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350"/>
              </a:lnSpc>
            </a:pPr>
            <a:r>
              <a:rPr lang="en-US" sz="1125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٠١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001750" y="7962900"/>
            <a:ext cx="3143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45"/>
              </a:lnSpc>
            </a:pPr>
            <a:r>
              <a:rPr lang="ar-EG" sz="1650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تحقّق سريري وتحسين التصميم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382250" y="7724775"/>
            <a:ext cx="3143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350"/>
              </a:lnSpc>
            </a:pPr>
            <a:r>
              <a:rPr lang="en-US" sz="1125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٠٢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382250" y="7962900"/>
            <a:ext cx="3143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45"/>
              </a:lnSpc>
            </a:pPr>
            <a:r>
              <a:rPr lang="ar-EG" sz="1650">
                <a:solidFill>
                  <a:srgbClr val="5E5566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تطوير البيانات والنموذج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762750" y="7724775"/>
            <a:ext cx="3143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350"/>
              </a:lnSpc>
            </a:pPr>
            <a:r>
              <a:rPr lang="en-US" sz="1125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٠٣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762750" y="7962900"/>
            <a:ext cx="314325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45"/>
              </a:lnSpc>
            </a:pPr>
            <a:r>
              <a:rPr lang="ar-EG" sz="1650">
                <a:solidFill>
                  <a:srgbClr val="3B2F4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اختبار مع المستخدمات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143250" y="7724775"/>
            <a:ext cx="3143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350"/>
              </a:lnSpc>
            </a:pPr>
            <a:r>
              <a:rPr lang="en-US" sz="1125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٠٤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143250" y="7962900"/>
            <a:ext cx="314325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145"/>
              </a:lnSpc>
            </a:pPr>
            <a:r>
              <a:rPr lang="ar-EG" sz="1650">
                <a:solidFill>
                  <a:srgbClr val="261E2D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استكشاف مسار التكامل المناسب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43000" y="847725"/>
            <a:ext cx="1905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E6478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1575" y="9906000"/>
            <a:ext cx="15992475" cy="152400"/>
            <a:chOff x="0" y="0"/>
            <a:chExt cx="213233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23300" cy="203200"/>
            </a:xfrm>
            <a:custGeom>
              <a:avLst/>
              <a:gdLst/>
              <a:ahLst/>
              <a:cxnLst/>
              <a:rect r="r" b="b" t="t" l="l"/>
              <a:pathLst>
                <a:path h="203200" w="21323300">
                  <a:moveTo>
                    <a:pt x="0" y="0"/>
                  </a:moveTo>
                  <a:lnTo>
                    <a:pt x="25400" y="0"/>
                  </a:lnTo>
                  <a:lnTo>
                    <a:pt x="25400" y="203200"/>
                  </a:lnTo>
                  <a:lnTo>
                    <a:pt x="0" y="203200"/>
                  </a:lnTo>
                  <a:close/>
                  <a:moveTo>
                    <a:pt x="546100" y="0"/>
                  </a:moveTo>
                  <a:lnTo>
                    <a:pt x="571500" y="0"/>
                  </a:lnTo>
                  <a:lnTo>
                    <a:pt x="571500" y="203200"/>
                  </a:lnTo>
                  <a:lnTo>
                    <a:pt x="546100" y="203200"/>
                  </a:lnTo>
                  <a:close/>
                  <a:moveTo>
                    <a:pt x="1092200" y="0"/>
                  </a:moveTo>
                  <a:lnTo>
                    <a:pt x="1117600" y="0"/>
                  </a:lnTo>
                  <a:lnTo>
                    <a:pt x="1117600" y="203200"/>
                  </a:lnTo>
                  <a:lnTo>
                    <a:pt x="1092200" y="203200"/>
                  </a:lnTo>
                  <a:close/>
                  <a:moveTo>
                    <a:pt x="1638300" y="0"/>
                  </a:moveTo>
                  <a:lnTo>
                    <a:pt x="1663700" y="0"/>
                  </a:lnTo>
                  <a:lnTo>
                    <a:pt x="1663700" y="203200"/>
                  </a:lnTo>
                  <a:lnTo>
                    <a:pt x="1638300" y="203200"/>
                  </a:lnTo>
                  <a:close/>
                  <a:moveTo>
                    <a:pt x="2184400" y="0"/>
                  </a:moveTo>
                  <a:lnTo>
                    <a:pt x="2209800" y="0"/>
                  </a:lnTo>
                  <a:lnTo>
                    <a:pt x="2209800" y="203200"/>
                  </a:lnTo>
                  <a:lnTo>
                    <a:pt x="2184400" y="203200"/>
                  </a:lnTo>
                  <a:close/>
                  <a:moveTo>
                    <a:pt x="2730500" y="0"/>
                  </a:moveTo>
                  <a:lnTo>
                    <a:pt x="2755900" y="0"/>
                  </a:lnTo>
                  <a:lnTo>
                    <a:pt x="2755900" y="203200"/>
                  </a:lnTo>
                  <a:lnTo>
                    <a:pt x="2730500" y="203200"/>
                  </a:lnTo>
                  <a:close/>
                  <a:moveTo>
                    <a:pt x="3276600" y="0"/>
                  </a:moveTo>
                  <a:lnTo>
                    <a:pt x="3302000" y="0"/>
                  </a:lnTo>
                  <a:lnTo>
                    <a:pt x="3302000" y="203200"/>
                  </a:lnTo>
                  <a:lnTo>
                    <a:pt x="3276600" y="203200"/>
                  </a:lnTo>
                  <a:close/>
                  <a:moveTo>
                    <a:pt x="3822700" y="0"/>
                  </a:moveTo>
                  <a:lnTo>
                    <a:pt x="3848100" y="0"/>
                  </a:lnTo>
                  <a:lnTo>
                    <a:pt x="3848100" y="203200"/>
                  </a:lnTo>
                  <a:lnTo>
                    <a:pt x="3822700" y="203200"/>
                  </a:lnTo>
                  <a:close/>
                  <a:moveTo>
                    <a:pt x="4368800" y="0"/>
                  </a:moveTo>
                  <a:lnTo>
                    <a:pt x="4394200" y="0"/>
                  </a:lnTo>
                  <a:lnTo>
                    <a:pt x="4394200" y="203200"/>
                  </a:lnTo>
                  <a:lnTo>
                    <a:pt x="4368800" y="203200"/>
                  </a:lnTo>
                  <a:close/>
                  <a:moveTo>
                    <a:pt x="4914900" y="0"/>
                  </a:moveTo>
                  <a:lnTo>
                    <a:pt x="4940300" y="0"/>
                  </a:lnTo>
                  <a:lnTo>
                    <a:pt x="4940300" y="203200"/>
                  </a:lnTo>
                  <a:lnTo>
                    <a:pt x="4914900" y="203200"/>
                  </a:lnTo>
                  <a:close/>
                  <a:moveTo>
                    <a:pt x="5461000" y="0"/>
                  </a:moveTo>
                  <a:lnTo>
                    <a:pt x="5486400" y="0"/>
                  </a:lnTo>
                  <a:lnTo>
                    <a:pt x="5486400" y="203200"/>
                  </a:lnTo>
                  <a:lnTo>
                    <a:pt x="5461000" y="203200"/>
                  </a:lnTo>
                  <a:close/>
                  <a:moveTo>
                    <a:pt x="6007100" y="0"/>
                  </a:moveTo>
                  <a:lnTo>
                    <a:pt x="6032500" y="0"/>
                  </a:lnTo>
                  <a:lnTo>
                    <a:pt x="6032500" y="203200"/>
                  </a:lnTo>
                  <a:lnTo>
                    <a:pt x="6007100" y="203200"/>
                  </a:lnTo>
                  <a:close/>
                  <a:moveTo>
                    <a:pt x="6553200" y="0"/>
                  </a:moveTo>
                  <a:lnTo>
                    <a:pt x="6578600" y="0"/>
                  </a:lnTo>
                  <a:lnTo>
                    <a:pt x="6578600" y="203200"/>
                  </a:lnTo>
                  <a:lnTo>
                    <a:pt x="6553200" y="203200"/>
                  </a:lnTo>
                  <a:close/>
                  <a:moveTo>
                    <a:pt x="7099300" y="0"/>
                  </a:moveTo>
                  <a:lnTo>
                    <a:pt x="7124700" y="0"/>
                  </a:lnTo>
                  <a:lnTo>
                    <a:pt x="7124700" y="203200"/>
                  </a:lnTo>
                  <a:lnTo>
                    <a:pt x="7099300" y="203200"/>
                  </a:lnTo>
                  <a:close/>
                  <a:moveTo>
                    <a:pt x="7645400" y="0"/>
                  </a:moveTo>
                  <a:lnTo>
                    <a:pt x="7670800" y="0"/>
                  </a:lnTo>
                  <a:lnTo>
                    <a:pt x="7670800" y="203200"/>
                  </a:lnTo>
                  <a:lnTo>
                    <a:pt x="7645400" y="203200"/>
                  </a:lnTo>
                  <a:close/>
                  <a:moveTo>
                    <a:pt x="8191500" y="0"/>
                  </a:moveTo>
                  <a:lnTo>
                    <a:pt x="8216900" y="0"/>
                  </a:lnTo>
                  <a:lnTo>
                    <a:pt x="8216900" y="203200"/>
                  </a:lnTo>
                  <a:lnTo>
                    <a:pt x="8191500" y="203200"/>
                  </a:lnTo>
                  <a:close/>
                  <a:moveTo>
                    <a:pt x="8737600" y="0"/>
                  </a:moveTo>
                  <a:lnTo>
                    <a:pt x="8763000" y="0"/>
                  </a:lnTo>
                  <a:lnTo>
                    <a:pt x="8763000" y="203200"/>
                  </a:lnTo>
                  <a:lnTo>
                    <a:pt x="8737600" y="203200"/>
                  </a:lnTo>
                  <a:close/>
                  <a:moveTo>
                    <a:pt x="9283700" y="0"/>
                  </a:moveTo>
                  <a:lnTo>
                    <a:pt x="9309100" y="0"/>
                  </a:lnTo>
                  <a:lnTo>
                    <a:pt x="9309100" y="203200"/>
                  </a:lnTo>
                  <a:lnTo>
                    <a:pt x="9283700" y="203200"/>
                  </a:lnTo>
                  <a:close/>
                  <a:moveTo>
                    <a:pt x="9829800" y="0"/>
                  </a:moveTo>
                  <a:lnTo>
                    <a:pt x="9855200" y="0"/>
                  </a:lnTo>
                  <a:lnTo>
                    <a:pt x="9855200" y="203200"/>
                  </a:lnTo>
                  <a:lnTo>
                    <a:pt x="9829800" y="203200"/>
                  </a:lnTo>
                  <a:close/>
                  <a:moveTo>
                    <a:pt x="10375900" y="0"/>
                  </a:moveTo>
                  <a:lnTo>
                    <a:pt x="10401300" y="0"/>
                  </a:lnTo>
                  <a:lnTo>
                    <a:pt x="10401300" y="203200"/>
                  </a:lnTo>
                  <a:lnTo>
                    <a:pt x="10375900" y="203200"/>
                  </a:lnTo>
                  <a:close/>
                  <a:moveTo>
                    <a:pt x="10922000" y="0"/>
                  </a:moveTo>
                  <a:lnTo>
                    <a:pt x="10947400" y="0"/>
                  </a:lnTo>
                  <a:lnTo>
                    <a:pt x="10947400" y="203200"/>
                  </a:lnTo>
                  <a:lnTo>
                    <a:pt x="10922000" y="203200"/>
                  </a:lnTo>
                  <a:close/>
                  <a:moveTo>
                    <a:pt x="11468100" y="0"/>
                  </a:moveTo>
                  <a:lnTo>
                    <a:pt x="11493500" y="0"/>
                  </a:lnTo>
                  <a:lnTo>
                    <a:pt x="11493500" y="203200"/>
                  </a:lnTo>
                  <a:lnTo>
                    <a:pt x="11468100" y="203200"/>
                  </a:lnTo>
                  <a:close/>
                  <a:moveTo>
                    <a:pt x="12014200" y="0"/>
                  </a:moveTo>
                  <a:lnTo>
                    <a:pt x="12039600" y="0"/>
                  </a:lnTo>
                  <a:lnTo>
                    <a:pt x="12039600" y="203200"/>
                  </a:lnTo>
                  <a:lnTo>
                    <a:pt x="12014200" y="203200"/>
                  </a:lnTo>
                  <a:close/>
                  <a:moveTo>
                    <a:pt x="12560300" y="0"/>
                  </a:moveTo>
                  <a:lnTo>
                    <a:pt x="12585700" y="0"/>
                  </a:lnTo>
                  <a:lnTo>
                    <a:pt x="12585700" y="203200"/>
                  </a:lnTo>
                  <a:lnTo>
                    <a:pt x="12560300" y="203200"/>
                  </a:lnTo>
                  <a:close/>
                  <a:moveTo>
                    <a:pt x="13106400" y="0"/>
                  </a:moveTo>
                  <a:lnTo>
                    <a:pt x="13131800" y="0"/>
                  </a:lnTo>
                  <a:lnTo>
                    <a:pt x="13131800" y="203200"/>
                  </a:lnTo>
                  <a:lnTo>
                    <a:pt x="13106400" y="203200"/>
                  </a:lnTo>
                  <a:close/>
                  <a:moveTo>
                    <a:pt x="13652500" y="0"/>
                  </a:moveTo>
                  <a:lnTo>
                    <a:pt x="13677900" y="0"/>
                  </a:lnTo>
                  <a:lnTo>
                    <a:pt x="13677900" y="203200"/>
                  </a:lnTo>
                  <a:lnTo>
                    <a:pt x="13652500" y="203200"/>
                  </a:lnTo>
                  <a:close/>
                  <a:moveTo>
                    <a:pt x="14198600" y="0"/>
                  </a:moveTo>
                  <a:lnTo>
                    <a:pt x="14224000" y="0"/>
                  </a:lnTo>
                  <a:lnTo>
                    <a:pt x="14224000" y="203200"/>
                  </a:lnTo>
                  <a:lnTo>
                    <a:pt x="14198600" y="203200"/>
                  </a:lnTo>
                  <a:close/>
                  <a:moveTo>
                    <a:pt x="14744700" y="0"/>
                  </a:moveTo>
                  <a:lnTo>
                    <a:pt x="14770100" y="0"/>
                  </a:lnTo>
                  <a:lnTo>
                    <a:pt x="14770100" y="203200"/>
                  </a:lnTo>
                  <a:lnTo>
                    <a:pt x="14744700" y="203200"/>
                  </a:lnTo>
                  <a:close/>
                  <a:moveTo>
                    <a:pt x="15290800" y="0"/>
                  </a:moveTo>
                  <a:lnTo>
                    <a:pt x="15316200" y="0"/>
                  </a:lnTo>
                  <a:lnTo>
                    <a:pt x="15316200" y="203200"/>
                  </a:lnTo>
                  <a:lnTo>
                    <a:pt x="15290800" y="203200"/>
                  </a:lnTo>
                  <a:close/>
                  <a:moveTo>
                    <a:pt x="15836900" y="0"/>
                  </a:moveTo>
                  <a:lnTo>
                    <a:pt x="15862300" y="0"/>
                  </a:lnTo>
                  <a:lnTo>
                    <a:pt x="15862300" y="203200"/>
                  </a:lnTo>
                  <a:lnTo>
                    <a:pt x="15836900" y="203200"/>
                  </a:lnTo>
                  <a:close/>
                  <a:moveTo>
                    <a:pt x="16383000" y="0"/>
                  </a:moveTo>
                  <a:lnTo>
                    <a:pt x="16408400" y="0"/>
                  </a:lnTo>
                  <a:lnTo>
                    <a:pt x="16408400" y="203200"/>
                  </a:lnTo>
                  <a:lnTo>
                    <a:pt x="16383000" y="203200"/>
                  </a:lnTo>
                  <a:close/>
                  <a:moveTo>
                    <a:pt x="16929100" y="0"/>
                  </a:moveTo>
                  <a:lnTo>
                    <a:pt x="16954500" y="0"/>
                  </a:lnTo>
                  <a:lnTo>
                    <a:pt x="16954500" y="203200"/>
                  </a:lnTo>
                  <a:lnTo>
                    <a:pt x="16929100" y="203200"/>
                  </a:lnTo>
                  <a:close/>
                  <a:moveTo>
                    <a:pt x="17475200" y="0"/>
                  </a:moveTo>
                  <a:lnTo>
                    <a:pt x="17500600" y="0"/>
                  </a:lnTo>
                  <a:lnTo>
                    <a:pt x="17500600" y="203200"/>
                  </a:lnTo>
                  <a:lnTo>
                    <a:pt x="17475200" y="203200"/>
                  </a:lnTo>
                  <a:close/>
                  <a:moveTo>
                    <a:pt x="18021300" y="0"/>
                  </a:moveTo>
                  <a:lnTo>
                    <a:pt x="18046700" y="0"/>
                  </a:lnTo>
                  <a:lnTo>
                    <a:pt x="18046700" y="203200"/>
                  </a:lnTo>
                  <a:lnTo>
                    <a:pt x="18021300" y="203200"/>
                  </a:lnTo>
                  <a:close/>
                  <a:moveTo>
                    <a:pt x="18567400" y="0"/>
                  </a:moveTo>
                  <a:lnTo>
                    <a:pt x="18592800" y="0"/>
                  </a:lnTo>
                  <a:lnTo>
                    <a:pt x="18592800" y="203200"/>
                  </a:lnTo>
                  <a:lnTo>
                    <a:pt x="18567400" y="203200"/>
                  </a:lnTo>
                  <a:close/>
                  <a:moveTo>
                    <a:pt x="19113500" y="0"/>
                  </a:moveTo>
                  <a:lnTo>
                    <a:pt x="19138900" y="0"/>
                  </a:lnTo>
                  <a:lnTo>
                    <a:pt x="19138900" y="203200"/>
                  </a:lnTo>
                  <a:lnTo>
                    <a:pt x="19113500" y="203200"/>
                  </a:lnTo>
                  <a:close/>
                  <a:moveTo>
                    <a:pt x="19659600" y="0"/>
                  </a:moveTo>
                  <a:lnTo>
                    <a:pt x="19685000" y="0"/>
                  </a:lnTo>
                  <a:lnTo>
                    <a:pt x="19685000" y="203200"/>
                  </a:lnTo>
                  <a:lnTo>
                    <a:pt x="19659600" y="203200"/>
                  </a:lnTo>
                  <a:close/>
                  <a:moveTo>
                    <a:pt x="20205700" y="0"/>
                  </a:moveTo>
                  <a:lnTo>
                    <a:pt x="20231100" y="0"/>
                  </a:lnTo>
                  <a:lnTo>
                    <a:pt x="20231100" y="203200"/>
                  </a:lnTo>
                  <a:lnTo>
                    <a:pt x="20205700" y="203200"/>
                  </a:lnTo>
                  <a:close/>
                  <a:moveTo>
                    <a:pt x="20751800" y="0"/>
                  </a:moveTo>
                  <a:lnTo>
                    <a:pt x="20777200" y="0"/>
                  </a:lnTo>
                  <a:lnTo>
                    <a:pt x="20777200" y="203200"/>
                  </a:lnTo>
                  <a:lnTo>
                    <a:pt x="20751800" y="203200"/>
                  </a:lnTo>
                  <a:close/>
                  <a:moveTo>
                    <a:pt x="21297900" y="0"/>
                  </a:moveTo>
                  <a:lnTo>
                    <a:pt x="21323300" y="0"/>
                  </a:lnTo>
                  <a:lnTo>
                    <a:pt x="21323300" y="203200"/>
                  </a:lnTo>
                  <a:lnTo>
                    <a:pt x="21297900" y="203200"/>
                  </a:lnTo>
                  <a:close/>
                </a:path>
              </a:pathLst>
            </a:custGeom>
            <a:solidFill>
              <a:srgbClr val="A796B5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233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78000" y="5848350"/>
            <a:ext cx="2667000" cy="19050"/>
            <a:chOff x="0" y="0"/>
            <a:chExt cx="355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6000" cy="25400"/>
            </a:xfrm>
            <a:custGeom>
              <a:avLst/>
              <a:gdLst/>
              <a:ahLst/>
              <a:cxnLst/>
              <a:rect r="r" b="b" t="t" l="l"/>
              <a:pathLst>
                <a:path h="254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B57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5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 descr="BADIRA mark"/>
          <p:cNvSpPr/>
          <p:nvPr/>
        </p:nvSpPr>
        <p:spPr>
          <a:xfrm flipH="false" flipV="false" rot="0">
            <a:off x="16249650" y="6591300"/>
            <a:ext cx="771525" cy="1143000"/>
          </a:xfrm>
          <a:custGeom>
            <a:avLst/>
            <a:gdLst/>
            <a:ahLst/>
            <a:cxnLst/>
            <a:rect r="r" b="b" t="t" l="l"/>
            <a:pathLst>
              <a:path h="1143000" w="771525">
                <a:moveTo>
                  <a:pt x="0" y="0"/>
                </a:moveTo>
                <a:lnTo>
                  <a:pt x="771525" y="0"/>
                </a:lnTo>
                <a:lnTo>
                  <a:pt x="7715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" t="0" r="-20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1575" y="2524125"/>
            <a:ext cx="6800455" cy="6469151"/>
          </a:xfrm>
          <a:custGeom>
            <a:avLst/>
            <a:gdLst/>
            <a:ahLst/>
            <a:cxnLst/>
            <a:rect r="r" b="b" t="t" l="l"/>
            <a:pathLst>
              <a:path h="6469151" w="6800455">
                <a:moveTo>
                  <a:pt x="0" y="0"/>
                </a:moveTo>
                <a:lnTo>
                  <a:pt x="6800455" y="0"/>
                </a:lnTo>
                <a:lnTo>
                  <a:pt x="6800455" y="6469151"/>
                </a:lnTo>
                <a:lnTo>
                  <a:pt x="0" y="6469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9408" y="2683260"/>
            <a:ext cx="3142395" cy="6150881"/>
          </a:xfrm>
          <a:custGeom>
            <a:avLst/>
            <a:gdLst/>
            <a:ahLst/>
            <a:cxnLst/>
            <a:rect r="r" b="b" t="t" l="l"/>
            <a:pathLst>
              <a:path h="6150881" w="3142395">
                <a:moveTo>
                  <a:pt x="0" y="0"/>
                </a:moveTo>
                <a:lnTo>
                  <a:pt x="3142395" y="0"/>
                </a:lnTo>
                <a:lnTo>
                  <a:pt x="3142395" y="6150881"/>
                </a:lnTo>
                <a:lnTo>
                  <a:pt x="0" y="6150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71803" y="2683260"/>
            <a:ext cx="3133468" cy="6150881"/>
          </a:xfrm>
          <a:custGeom>
            <a:avLst/>
            <a:gdLst/>
            <a:ahLst/>
            <a:cxnLst/>
            <a:rect r="r" b="b" t="t" l="l"/>
            <a:pathLst>
              <a:path h="6150881" w="3133468">
                <a:moveTo>
                  <a:pt x="0" y="0"/>
                </a:moveTo>
                <a:lnTo>
                  <a:pt x="3133468" y="0"/>
                </a:lnTo>
                <a:lnTo>
                  <a:pt x="3133468" y="6150881"/>
                </a:lnTo>
                <a:lnTo>
                  <a:pt x="0" y="6150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00088" y="2254273"/>
            <a:ext cx="985876" cy="985876"/>
          </a:xfrm>
          <a:custGeom>
            <a:avLst/>
            <a:gdLst/>
            <a:ahLst/>
            <a:cxnLst/>
            <a:rect r="r" b="b" t="t" l="l"/>
            <a:pathLst>
              <a:path h="985876" w="985876">
                <a:moveTo>
                  <a:pt x="0" y="0"/>
                </a:moveTo>
                <a:lnTo>
                  <a:pt x="985876" y="0"/>
                </a:lnTo>
                <a:lnTo>
                  <a:pt x="985876" y="985875"/>
                </a:lnTo>
                <a:lnTo>
                  <a:pt x="0" y="9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41421" y="400050"/>
            <a:ext cx="120015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240"/>
              </a:lnSpc>
            </a:pPr>
            <a:r>
              <a:rPr lang="en-US" sz="7700">
                <a:solidFill>
                  <a:srgbClr val="F7F4F1"/>
                </a:solidFill>
                <a:latin typeface="Arimo"/>
                <a:ea typeface="Arimo"/>
                <a:cs typeface="Arimo"/>
                <a:sym typeface="Arimo"/>
              </a:rPr>
              <a:t>BADIRA | </a:t>
            </a:r>
            <a:r>
              <a:rPr lang="ar-EG" sz="7700">
                <a:solidFill>
                  <a:srgbClr val="F7F4F1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بادرة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39500" y="8324850"/>
            <a:ext cx="5905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10"/>
              </a:lnSpc>
            </a:pPr>
            <a:r>
              <a:rPr lang="ar-EG" sz="16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جودي الإمام · </a:t>
            </a:r>
            <a:r>
              <a:rPr lang="en-US" sz="16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CS 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9500" y="8686800"/>
            <a:ext cx="5905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10"/>
              </a:lnSpc>
            </a:pPr>
            <a:r>
              <a:rPr lang="ar-EG" sz="16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دانا المنير · </a:t>
            </a:r>
            <a:r>
              <a:rPr lang="en-US" sz="16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CS 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000" y="9391650"/>
            <a:ext cx="9906000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687"/>
              </a:lnSpc>
            </a:pPr>
            <a:r>
              <a:rPr lang="ar-EG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بادرة أداة للتوعية وترتيب أولويات الفحص. ليست أداة تشخيص ولا بديلاً عن التقييم الطبي المختص.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9391650"/>
            <a:ext cx="1905000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1575" y="9906000"/>
            <a:ext cx="15992475" cy="152400"/>
            <a:chOff x="0" y="0"/>
            <a:chExt cx="213233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23300" cy="203200"/>
            </a:xfrm>
            <a:custGeom>
              <a:avLst/>
              <a:gdLst/>
              <a:ahLst/>
              <a:cxnLst/>
              <a:rect r="r" b="b" t="t" l="l"/>
              <a:pathLst>
                <a:path h="203200" w="21323300">
                  <a:moveTo>
                    <a:pt x="0" y="0"/>
                  </a:moveTo>
                  <a:lnTo>
                    <a:pt x="25400" y="0"/>
                  </a:lnTo>
                  <a:lnTo>
                    <a:pt x="25400" y="203200"/>
                  </a:lnTo>
                  <a:lnTo>
                    <a:pt x="0" y="203200"/>
                  </a:lnTo>
                  <a:close/>
                  <a:moveTo>
                    <a:pt x="546100" y="0"/>
                  </a:moveTo>
                  <a:lnTo>
                    <a:pt x="571500" y="0"/>
                  </a:lnTo>
                  <a:lnTo>
                    <a:pt x="571500" y="203200"/>
                  </a:lnTo>
                  <a:lnTo>
                    <a:pt x="546100" y="203200"/>
                  </a:lnTo>
                  <a:close/>
                  <a:moveTo>
                    <a:pt x="1092200" y="0"/>
                  </a:moveTo>
                  <a:lnTo>
                    <a:pt x="1117600" y="0"/>
                  </a:lnTo>
                  <a:lnTo>
                    <a:pt x="1117600" y="203200"/>
                  </a:lnTo>
                  <a:lnTo>
                    <a:pt x="1092200" y="203200"/>
                  </a:lnTo>
                  <a:close/>
                  <a:moveTo>
                    <a:pt x="1638300" y="0"/>
                  </a:moveTo>
                  <a:lnTo>
                    <a:pt x="1663700" y="0"/>
                  </a:lnTo>
                  <a:lnTo>
                    <a:pt x="1663700" y="203200"/>
                  </a:lnTo>
                  <a:lnTo>
                    <a:pt x="1638300" y="203200"/>
                  </a:lnTo>
                  <a:close/>
                  <a:moveTo>
                    <a:pt x="2184400" y="0"/>
                  </a:moveTo>
                  <a:lnTo>
                    <a:pt x="2209800" y="0"/>
                  </a:lnTo>
                  <a:lnTo>
                    <a:pt x="2209800" y="203200"/>
                  </a:lnTo>
                  <a:lnTo>
                    <a:pt x="2184400" y="203200"/>
                  </a:lnTo>
                  <a:close/>
                  <a:moveTo>
                    <a:pt x="2730500" y="0"/>
                  </a:moveTo>
                  <a:lnTo>
                    <a:pt x="2755900" y="0"/>
                  </a:lnTo>
                  <a:lnTo>
                    <a:pt x="2755900" y="203200"/>
                  </a:lnTo>
                  <a:lnTo>
                    <a:pt x="2730500" y="203200"/>
                  </a:lnTo>
                  <a:close/>
                  <a:moveTo>
                    <a:pt x="3276600" y="0"/>
                  </a:moveTo>
                  <a:lnTo>
                    <a:pt x="3302000" y="0"/>
                  </a:lnTo>
                  <a:lnTo>
                    <a:pt x="3302000" y="203200"/>
                  </a:lnTo>
                  <a:lnTo>
                    <a:pt x="3276600" y="203200"/>
                  </a:lnTo>
                  <a:close/>
                  <a:moveTo>
                    <a:pt x="3822700" y="0"/>
                  </a:moveTo>
                  <a:lnTo>
                    <a:pt x="3848100" y="0"/>
                  </a:lnTo>
                  <a:lnTo>
                    <a:pt x="3848100" y="203200"/>
                  </a:lnTo>
                  <a:lnTo>
                    <a:pt x="3822700" y="203200"/>
                  </a:lnTo>
                  <a:close/>
                  <a:moveTo>
                    <a:pt x="4368800" y="0"/>
                  </a:moveTo>
                  <a:lnTo>
                    <a:pt x="4394200" y="0"/>
                  </a:lnTo>
                  <a:lnTo>
                    <a:pt x="4394200" y="203200"/>
                  </a:lnTo>
                  <a:lnTo>
                    <a:pt x="4368800" y="203200"/>
                  </a:lnTo>
                  <a:close/>
                  <a:moveTo>
                    <a:pt x="4914900" y="0"/>
                  </a:moveTo>
                  <a:lnTo>
                    <a:pt x="4940300" y="0"/>
                  </a:lnTo>
                  <a:lnTo>
                    <a:pt x="4940300" y="203200"/>
                  </a:lnTo>
                  <a:lnTo>
                    <a:pt x="4914900" y="203200"/>
                  </a:lnTo>
                  <a:close/>
                  <a:moveTo>
                    <a:pt x="5461000" y="0"/>
                  </a:moveTo>
                  <a:lnTo>
                    <a:pt x="5486400" y="0"/>
                  </a:lnTo>
                  <a:lnTo>
                    <a:pt x="5486400" y="203200"/>
                  </a:lnTo>
                  <a:lnTo>
                    <a:pt x="5461000" y="203200"/>
                  </a:lnTo>
                  <a:close/>
                  <a:moveTo>
                    <a:pt x="6007100" y="0"/>
                  </a:moveTo>
                  <a:lnTo>
                    <a:pt x="6032500" y="0"/>
                  </a:lnTo>
                  <a:lnTo>
                    <a:pt x="6032500" y="203200"/>
                  </a:lnTo>
                  <a:lnTo>
                    <a:pt x="6007100" y="203200"/>
                  </a:lnTo>
                  <a:close/>
                  <a:moveTo>
                    <a:pt x="6553200" y="0"/>
                  </a:moveTo>
                  <a:lnTo>
                    <a:pt x="6578600" y="0"/>
                  </a:lnTo>
                  <a:lnTo>
                    <a:pt x="6578600" y="203200"/>
                  </a:lnTo>
                  <a:lnTo>
                    <a:pt x="6553200" y="203200"/>
                  </a:lnTo>
                  <a:close/>
                  <a:moveTo>
                    <a:pt x="7099300" y="0"/>
                  </a:moveTo>
                  <a:lnTo>
                    <a:pt x="7124700" y="0"/>
                  </a:lnTo>
                  <a:lnTo>
                    <a:pt x="7124700" y="203200"/>
                  </a:lnTo>
                  <a:lnTo>
                    <a:pt x="7099300" y="203200"/>
                  </a:lnTo>
                  <a:close/>
                  <a:moveTo>
                    <a:pt x="7645400" y="0"/>
                  </a:moveTo>
                  <a:lnTo>
                    <a:pt x="7670800" y="0"/>
                  </a:lnTo>
                  <a:lnTo>
                    <a:pt x="7670800" y="203200"/>
                  </a:lnTo>
                  <a:lnTo>
                    <a:pt x="7645400" y="203200"/>
                  </a:lnTo>
                  <a:close/>
                  <a:moveTo>
                    <a:pt x="8191500" y="0"/>
                  </a:moveTo>
                  <a:lnTo>
                    <a:pt x="8216900" y="0"/>
                  </a:lnTo>
                  <a:lnTo>
                    <a:pt x="8216900" y="203200"/>
                  </a:lnTo>
                  <a:lnTo>
                    <a:pt x="8191500" y="203200"/>
                  </a:lnTo>
                  <a:close/>
                  <a:moveTo>
                    <a:pt x="8737600" y="0"/>
                  </a:moveTo>
                  <a:lnTo>
                    <a:pt x="8763000" y="0"/>
                  </a:lnTo>
                  <a:lnTo>
                    <a:pt x="8763000" y="203200"/>
                  </a:lnTo>
                  <a:lnTo>
                    <a:pt x="8737600" y="203200"/>
                  </a:lnTo>
                  <a:close/>
                  <a:moveTo>
                    <a:pt x="9283700" y="0"/>
                  </a:moveTo>
                  <a:lnTo>
                    <a:pt x="9309100" y="0"/>
                  </a:lnTo>
                  <a:lnTo>
                    <a:pt x="9309100" y="203200"/>
                  </a:lnTo>
                  <a:lnTo>
                    <a:pt x="9283700" y="203200"/>
                  </a:lnTo>
                  <a:close/>
                  <a:moveTo>
                    <a:pt x="9829800" y="0"/>
                  </a:moveTo>
                  <a:lnTo>
                    <a:pt x="9855200" y="0"/>
                  </a:lnTo>
                  <a:lnTo>
                    <a:pt x="9855200" y="203200"/>
                  </a:lnTo>
                  <a:lnTo>
                    <a:pt x="9829800" y="203200"/>
                  </a:lnTo>
                  <a:close/>
                  <a:moveTo>
                    <a:pt x="10375900" y="0"/>
                  </a:moveTo>
                  <a:lnTo>
                    <a:pt x="10401300" y="0"/>
                  </a:lnTo>
                  <a:lnTo>
                    <a:pt x="10401300" y="203200"/>
                  </a:lnTo>
                  <a:lnTo>
                    <a:pt x="10375900" y="203200"/>
                  </a:lnTo>
                  <a:close/>
                  <a:moveTo>
                    <a:pt x="10922000" y="0"/>
                  </a:moveTo>
                  <a:lnTo>
                    <a:pt x="10947400" y="0"/>
                  </a:lnTo>
                  <a:lnTo>
                    <a:pt x="10947400" y="203200"/>
                  </a:lnTo>
                  <a:lnTo>
                    <a:pt x="10922000" y="203200"/>
                  </a:lnTo>
                  <a:close/>
                  <a:moveTo>
                    <a:pt x="11468100" y="0"/>
                  </a:moveTo>
                  <a:lnTo>
                    <a:pt x="11493500" y="0"/>
                  </a:lnTo>
                  <a:lnTo>
                    <a:pt x="11493500" y="203200"/>
                  </a:lnTo>
                  <a:lnTo>
                    <a:pt x="11468100" y="203200"/>
                  </a:lnTo>
                  <a:close/>
                  <a:moveTo>
                    <a:pt x="12014200" y="0"/>
                  </a:moveTo>
                  <a:lnTo>
                    <a:pt x="12039600" y="0"/>
                  </a:lnTo>
                  <a:lnTo>
                    <a:pt x="12039600" y="203200"/>
                  </a:lnTo>
                  <a:lnTo>
                    <a:pt x="12014200" y="203200"/>
                  </a:lnTo>
                  <a:close/>
                  <a:moveTo>
                    <a:pt x="12560300" y="0"/>
                  </a:moveTo>
                  <a:lnTo>
                    <a:pt x="12585700" y="0"/>
                  </a:lnTo>
                  <a:lnTo>
                    <a:pt x="12585700" y="203200"/>
                  </a:lnTo>
                  <a:lnTo>
                    <a:pt x="12560300" y="203200"/>
                  </a:lnTo>
                  <a:close/>
                  <a:moveTo>
                    <a:pt x="13106400" y="0"/>
                  </a:moveTo>
                  <a:lnTo>
                    <a:pt x="13131800" y="0"/>
                  </a:lnTo>
                  <a:lnTo>
                    <a:pt x="13131800" y="203200"/>
                  </a:lnTo>
                  <a:lnTo>
                    <a:pt x="13106400" y="203200"/>
                  </a:lnTo>
                  <a:close/>
                  <a:moveTo>
                    <a:pt x="13652500" y="0"/>
                  </a:moveTo>
                  <a:lnTo>
                    <a:pt x="13677900" y="0"/>
                  </a:lnTo>
                  <a:lnTo>
                    <a:pt x="13677900" y="203200"/>
                  </a:lnTo>
                  <a:lnTo>
                    <a:pt x="13652500" y="203200"/>
                  </a:lnTo>
                  <a:close/>
                  <a:moveTo>
                    <a:pt x="14198600" y="0"/>
                  </a:moveTo>
                  <a:lnTo>
                    <a:pt x="14224000" y="0"/>
                  </a:lnTo>
                  <a:lnTo>
                    <a:pt x="14224000" y="203200"/>
                  </a:lnTo>
                  <a:lnTo>
                    <a:pt x="14198600" y="203200"/>
                  </a:lnTo>
                  <a:close/>
                  <a:moveTo>
                    <a:pt x="14744700" y="0"/>
                  </a:moveTo>
                  <a:lnTo>
                    <a:pt x="14770100" y="0"/>
                  </a:lnTo>
                  <a:lnTo>
                    <a:pt x="14770100" y="203200"/>
                  </a:lnTo>
                  <a:lnTo>
                    <a:pt x="14744700" y="203200"/>
                  </a:lnTo>
                  <a:close/>
                  <a:moveTo>
                    <a:pt x="15290800" y="0"/>
                  </a:moveTo>
                  <a:lnTo>
                    <a:pt x="15316200" y="0"/>
                  </a:lnTo>
                  <a:lnTo>
                    <a:pt x="15316200" y="203200"/>
                  </a:lnTo>
                  <a:lnTo>
                    <a:pt x="15290800" y="203200"/>
                  </a:lnTo>
                  <a:close/>
                  <a:moveTo>
                    <a:pt x="15836900" y="0"/>
                  </a:moveTo>
                  <a:lnTo>
                    <a:pt x="15862300" y="0"/>
                  </a:lnTo>
                  <a:lnTo>
                    <a:pt x="15862300" y="203200"/>
                  </a:lnTo>
                  <a:lnTo>
                    <a:pt x="15836900" y="203200"/>
                  </a:lnTo>
                  <a:close/>
                  <a:moveTo>
                    <a:pt x="16383000" y="0"/>
                  </a:moveTo>
                  <a:lnTo>
                    <a:pt x="16408400" y="0"/>
                  </a:lnTo>
                  <a:lnTo>
                    <a:pt x="16408400" y="203200"/>
                  </a:lnTo>
                  <a:lnTo>
                    <a:pt x="16383000" y="203200"/>
                  </a:lnTo>
                  <a:close/>
                  <a:moveTo>
                    <a:pt x="16929100" y="0"/>
                  </a:moveTo>
                  <a:lnTo>
                    <a:pt x="16954500" y="0"/>
                  </a:lnTo>
                  <a:lnTo>
                    <a:pt x="16954500" y="203200"/>
                  </a:lnTo>
                  <a:lnTo>
                    <a:pt x="16929100" y="203200"/>
                  </a:lnTo>
                  <a:close/>
                  <a:moveTo>
                    <a:pt x="17475200" y="0"/>
                  </a:moveTo>
                  <a:lnTo>
                    <a:pt x="17500600" y="0"/>
                  </a:lnTo>
                  <a:lnTo>
                    <a:pt x="17500600" y="203200"/>
                  </a:lnTo>
                  <a:lnTo>
                    <a:pt x="17475200" y="203200"/>
                  </a:lnTo>
                  <a:close/>
                  <a:moveTo>
                    <a:pt x="18021300" y="0"/>
                  </a:moveTo>
                  <a:lnTo>
                    <a:pt x="18046700" y="0"/>
                  </a:lnTo>
                  <a:lnTo>
                    <a:pt x="18046700" y="203200"/>
                  </a:lnTo>
                  <a:lnTo>
                    <a:pt x="18021300" y="203200"/>
                  </a:lnTo>
                  <a:close/>
                  <a:moveTo>
                    <a:pt x="18567400" y="0"/>
                  </a:moveTo>
                  <a:lnTo>
                    <a:pt x="18592800" y="0"/>
                  </a:lnTo>
                  <a:lnTo>
                    <a:pt x="18592800" y="203200"/>
                  </a:lnTo>
                  <a:lnTo>
                    <a:pt x="18567400" y="203200"/>
                  </a:lnTo>
                  <a:close/>
                  <a:moveTo>
                    <a:pt x="19113500" y="0"/>
                  </a:moveTo>
                  <a:lnTo>
                    <a:pt x="19138900" y="0"/>
                  </a:lnTo>
                  <a:lnTo>
                    <a:pt x="19138900" y="203200"/>
                  </a:lnTo>
                  <a:lnTo>
                    <a:pt x="19113500" y="203200"/>
                  </a:lnTo>
                  <a:close/>
                  <a:moveTo>
                    <a:pt x="19659600" y="0"/>
                  </a:moveTo>
                  <a:lnTo>
                    <a:pt x="19685000" y="0"/>
                  </a:lnTo>
                  <a:lnTo>
                    <a:pt x="19685000" y="203200"/>
                  </a:lnTo>
                  <a:lnTo>
                    <a:pt x="19659600" y="203200"/>
                  </a:lnTo>
                  <a:close/>
                  <a:moveTo>
                    <a:pt x="20205700" y="0"/>
                  </a:moveTo>
                  <a:lnTo>
                    <a:pt x="20231100" y="0"/>
                  </a:lnTo>
                  <a:lnTo>
                    <a:pt x="20231100" y="203200"/>
                  </a:lnTo>
                  <a:lnTo>
                    <a:pt x="20205700" y="203200"/>
                  </a:lnTo>
                  <a:close/>
                  <a:moveTo>
                    <a:pt x="20751800" y="0"/>
                  </a:moveTo>
                  <a:lnTo>
                    <a:pt x="20777200" y="0"/>
                  </a:lnTo>
                  <a:lnTo>
                    <a:pt x="20777200" y="203200"/>
                  </a:lnTo>
                  <a:lnTo>
                    <a:pt x="20751800" y="203200"/>
                  </a:lnTo>
                  <a:close/>
                  <a:moveTo>
                    <a:pt x="21297900" y="0"/>
                  </a:moveTo>
                  <a:lnTo>
                    <a:pt x="21323300" y="0"/>
                  </a:lnTo>
                  <a:lnTo>
                    <a:pt x="21323300" y="203200"/>
                  </a:lnTo>
                  <a:lnTo>
                    <a:pt x="21297900" y="203200"/>
                  </a:lnTo>
                  <a:close/>
                </a:path>
              </a:pathLst>
            </a:custGeom>
            <a:solidFill>
              <a:srgbClr val="A796B5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233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78000" y="5848350"/>
            <a:ext cx="2667000" cy="19050"/>
            <a:chOff x="0" y="0"/>
            <a:chExt cx="355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6000" cy="25400"/>
            </a:xfrm>
            <a:custGeom>
              <a:avLst/>
              <a:gdLst/>
              <a:ahLst/>
              <a:cxnLst/>
              <a:rect r="r" b="b" t="t" l="l"/>
              <a:pathLst>
                <a:path h="254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B57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5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 descr="BADIRA mark"/>
          <p:cNvSpPr/>
          <p:nvPr/>
        </p:nvSpPr>
        <p:spPr>
          <a:xfrm flipH="false" flipV="false" rot="0">
            <a:off x="16249650" y="6591300"/>
            <a:ext cx="771525" cy="1143000"/>
          </a:xfrm>
          <a:custGeom>
            <a:avLst/>
            <a:gdLst/>
            <a:ahLst/>
            <a:cxnLst/>
            <a:rect r="r" b="b" t="t" l="l"/>
            <a:pathLst>
              <a:path h="1143000" w="771525">
                <a:moveTo>
                  <a:pt x="0" y="0"/>
                </a:moveTo>
                <a:lnTo>
                  <a:pt x="771525" y="0"/>
                </a:lnTo>
                <a:lnTo>
                  <a:pt x="771525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" t="0" r="-20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15500" y="1171575"/>
            <a:ext cx="7429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00"/>
              </a:lnSpc>
            </a:pPr>
            <a:r>
              <a:rPr lang="ar-EG" sz="300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الوعي المبكر يبدأ بمعرفة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39500" y="1971675"/>
            <a:ext cx="59055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280"/>
              </a:lnSpc>
            </a:pPr>
            <a:r>
              <a:rPr lang="ar-EG" sz="6900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ما يهمّ.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0" y="3190875"/>
            <a:ext cx="59055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280"/>
              </a:lnSpc>
            </a:pPr>
            <a:r>
              <a:rPr lang="ar-EG" sz="690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كم نعرف.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05500" y="4410075"/>
            <a:ext cx="59055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280"/>
              </a:lnSpc>
            </a:pPr>
            <a:r>
              <a:rPr lang="ar-EG" sz="6900">
                <a:solidFill>
                  <a:srgbClr val="F7F4F1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ومتى يهمّ.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0000" y="6324600"/>
            <a:ext cx="1200150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7F4F1"/>
                </a:solidFill>
                <a:latin typeface="Arimo"/>
                <a:ea typeface="Arimo"/>
                <a:cs typeface="Arimo"/>
                <a:sym typeface="Arimo"/>
              </a:rPr>
              <a:t>BADIRA | </a:t>
            </a:r>
            <a:r>
              <a:rPr lang="ar-EG" sz="9000">
                <a:solidFill>
                  <a:srgbClr val="F7F4F1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بادرة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39500" y="8324850"/>
            <a:ext cx="5905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10"/>
              </a:lnSpc>
            </a:pPr>
            <a:r>
              <a:rPr lang="ar-EG" sz="16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جودي الإمام · </a:t>
            </a:r>
            <a:r>
              <a:rPr lang="en-US" sz="16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CS 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9500" y="8686800"/>
            <a:ext cx="5905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10"/>
              </a:lnSpc>
            </a:pPr>
            <a:r>
              <a:rPr lang="ar-EG" sz="16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دانا المنير · </a:t>
            </a:r>
            <a:r>
              <a:rPr lang="en-US" sz="1650">
                <a:solidFill>
                  <a:srgbClr val="A796B5"/>
                </a:solidFill>
                <a:latin typeface="Arimo"/>
                <a:ea typeface="Arimo"/>
                <a:cs typeface="Arimo"/>
                <a:sym typeface="Arimo"/>
              </a:rPr>
              <a:t>CS 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000" y="9391650"/>
            <a:ext cx="9906000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687"/>
              </a:lnSpc>
            </a:pPr>
            <a:r>
              <a:rPr lang="ar-EG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  <a:rtl val="true"/>
              </a:rPr>
              <a:t>بادرة أداة للتوعية وترتيب أولويات الفحص. ليست أداة تشخيص ولا بديلاً عن التقييم الطبي المختص.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9391650"/>
            <a:ext cx="1905000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6B5780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BADIRA | بادرة</dc:description>
  <dc:identifier>DAHVZolT77s</dc:identifier>
  <dcterms:modified xsi:type="dcterms:W3CDTF">2011-08-01T06:04:30Z</dcterms:modified>
  <cp:revision>1</cp:revision>
  <dc:title>Presentation - BADIRA | بادرة</dc:title>
</cp:coreProperties>
</file>