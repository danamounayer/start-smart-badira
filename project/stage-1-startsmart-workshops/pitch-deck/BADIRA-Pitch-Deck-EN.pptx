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39E2A57-E544-4BF1-B440-2EC190D5745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DAEDF3-765A-48F1-A450-A0B9084B829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596BAE-2510-4D1F-A21F-4C568159F1C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6F1D3B-A4B5-4D42-A393-AA898B11E0D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C8EAF8-3E88-4BE6-9FDE-55522EB4612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600E9A-8D9F-4B2A-A934-A67DEDDDA77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C4E43A-4031-4A3C-A998-D0766EF85A3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badira-ai.netlify.app/#/result/amu4rmgf9" TargetMode="External"/><Relationship Id="rId3" Type="http://schemas.openxmlformats.org/officeDocument/2006/relationships/hyperlink" Target="https://badira-ai.netlify.app/#/result/amu4rmgf9" TargetMode="External"/><Relationship Id="rId4" Type="http://schemas.openxmlformats.org/officeDocument/2006/relationships/hyperlink" Target="https://badira-ai.netlify.app/#/result/amu4rmgf9" TargetMode="External"/><Relationship Id="rId5" Type="http://schemas.openxmlformats.org/officeDocument/2006/relationships/hyperlink" Target="https://badira-ai.netlify.app/#/result/amu4rmgf9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4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7543800" y="-1097280"/>
            <a:ext cx="5486040" cy="5486040"/>
          </a:xfrm>
          <a:prstGeom prst="ellipse">
            <a:avLst/>
          </a:prstGeom>
          <a:solidFill>
            <a:srgbClr val="4e3b59"/>
          </a:solidFill>
          <a:ln w="12700">
            <a:solidFill>
              <a:srgbClr val="4e3b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8366760" y="-320040"/>
            <a:ext cx="3885840" cy="3885840"/>
          </a:xfrm>
          <a:prstGeom prst="ellipse">
            <a:avLst/>
          </a:prstGeom>
          <a:solidFill>
            <a:srgbClr val="e66f63">
              <a:alpha val="92000"/>
            </a:srgbClr>
          </a:solidFill>
          <a:ln w="12700">
            <a:solidFill>
              <a:srgbClr val="e66f6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9070920" y="384120"/>
            <a:ext cx="2486880" cy="2486880"/>
          </a:xfrm>
          <a:prstGeom prst="ellipse">
            <a:avLst/>
          </a:prstGeom>
          <a:solidFill>
            <a:srgbClr val="f7efee"/>
          </a:solidFill>
          <a:ln w="12700">
            <a:solidFill>
              <a:srgbClr val="f7ef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 rot="1680000">
            <a:off x="9637560" y="813600"/>
            <a:ext cx="1188360" cy="1599840"/>
          </a:xfrm>
          <a:prstGeom prst="arc">
            <a:avLst>
              <a:gd name="adj1" fmla="val 16200000"/>
              <a:gd name="adj2" fmla="val 0"/>
            </a:avLst>
          </a:prstGeom>
          <a:noFill/>
          <a:ln w="63500">
            <a:solidFill>
              <a:srgbClr val="3428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10021680" y="1325880"/>
            <a:ext cx="292320" cy="292320"/>
          </a:xfrm>
          <a:prstGeom prst="ellipse">
            <a:avLst/>
          </a:prstGeom>
          <a:solidFill>
            <a:srgbClr val="e66f63"/>
          </a:solidFill>
          <a:ln w="12700">
            <a:solidFill>
              <a:srgbClr val="e66f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 rot="1500000">
            <a:off x="639720" y="502920"/>
            <a:ext cx="364320" cy="527760"/>
          </a:xfrm>
          <a:prstGeom prst="arc">
            <a:avLst>
              <a:gd name="adj1" fmla="val 16200000"/>
              <a:gd name="adj2" fmla="val 0"/>
            </a:avLst>
          </a:prstGeom>
          <a:noFill/>
          <a:ln w="279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765000" y="675720"/>
            <a:ext cx="105120" cy="105120"/>
          </a:xfrm>
          <a:prstGeom prst="ellipse">
            <a:avLst/>
          </a:prstGeom>
          <a:solidFill>
            <a:srgbClr val="e66f63"/>
          </a:solidFill>
          <a:ln w="12700">
            <a:solidFill>
              <a:srgbClr val="e66f63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9880" bIns="298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1139400" y="579600"/>
            <a:ext cx="23040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70" spc="3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BADIRA</a:t>
            </a:r>
            <a:endParaRPr b="0" lang="en-US" sz="14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640080" y="1874520"/>
            <a:ext cx="662904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8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Early awareness.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8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Better-timed care.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658440" y="3886200"/>
            <a:ext cx="6080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e8c9ca"/>
                </a:solidFill>
                <a:effectLst/>
                <a:uFillTx/>
                <a:latin typeface="Aptos"/>
                <a:ea typeface="Aptos"/>
              </a:rPr>
              <a:t>A bilingual AI companion for preeclampsia risk awareness — built around Risk × Reliability × Time.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658440" y="5257800"/>
            <a:ext cx="1234080" cy="328680"/>
          </a:xfrm>
          <a:prstGeom prst="roundRect">
            <a:avLst>
              <a:gd name="adj" fmla="val 16667"/>
            </a:avLst>
          </a:prstGeom>
          <a:solidFill>
            <a:srgbClr val="e66f63"/>
          </a:solidFill>
          <a:ln w="12700">
            <a:solidFill>
              <a:srgbClr val="e66f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749880" y="5330880"/>
            <a:ext cx="10512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RISK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2030040" y="5257800"/>
            <a:ext cx="1508400" cy="328680"/>
          </a:xfrm>
          <a:prstGeom prst="roundRect">
            <a:avLst>
              <a:gd name="adj" fmla="val 16667"/>
            </a:avLst>
          </a:prstGeom>
          <a:solidFill>
            <a:srgbClr val="e8c9ca"/>
          </a:solidFill>
          <a:ln w="12700">
            <a:solidFill>
              <a:srgbClr val="e8c9c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2121480" y="5330880"/>
            <a:ext cx="13255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34283d"/>
                </a:solidFill>
                <a:effectLst/>
                <a:uFillTx/>
                <a:latin typeface="Aptos"/>
                <a:ea typeface="Aptos"/>
              </a:rPr>
              <a:t>RELIABILITY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3684960" y="5257800"/>
            <a:ext cx="1170000" cy="328680"/>
          </a:xfrm>
          <a:prstGeom prst="roundRect">
            <a:avLst>
              <a:gd name="adj" fmla="val 16667"/>
            </a:avLst>
          </a:prstGeom>
          <a:solidFill>
            <a:srgbClr val="a9b9a2"/>
          </a:solidFill>
          <a:ln w="12700">
            <a:solidFill>
              <a:srgbClr val="a9b9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3776400" y="5330880"/>
            <a:ext cx="9871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34283d"/>
                </a:solidFill>
                <a:effectLst/>
                <a:uFillTx/>
                <a:latin typeface="Aptos"/>
                <a:ea typeface="Aptos"/>
              </a:rPr>
              <a:t>TIME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658440" y="596196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3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BADIRA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112928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01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594360" y="38412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01" strike="noStrike" u="none">
                <a:solidFill>
                  <a:srgbClr val="e66f63"/>
                </a:solidFill>
                <a:effectLst/>
                <a:uFillTx/>
                <a:latin typeface="Aptos"/>
                <a:ea typeface="Aptos"/>
              </a:rPr>
              <a:t>THE PROBLEM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594360" y="71316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100" strike="noStrike" u="none">
                <a:solidFill>
                  <a:srgbClr val="29232d"/>
                </a:solidFill>
                <a:effectLst/>
                <a:uFillTx/>
                <a:latin typeface="Georgia"/>
                <a:ea typeface="Georgia"/>
              </a:rPr>
              <a:t>Preeclampsia risk can be easy to miss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594360" y="1481400"/>
            <a:ext cx="64918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It may develop without clear symptoms — while the information women find is often broad, fragmented, or delayed until the next appointment.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3"/>
          <p:cNvSpPr/>
          <p:nvPr/>
        </p:nvSpPr>
        <p:spPr>
          <a:xfrm>
            <a:off x="685800" y="2761560"/>
            <a:ext cx="585000" cy="585000"/>
          </a:xfrm>
          <a:prstGeom prst="ellipse">
            <a:avLst/>
          </a:prstGeom>
          <a:solidFill>
            <a:srgbClr val="e66f63"/>
          </a:solidFill>
          <a:ln w="12700">
            <a:solidFill>
              <a:srgbClr val="e66f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685800" y="2907720"/>
            <a:ext cx="585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01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1444680" y="277992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Symptoms can be unclear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1444680" y="3127320"/>
            <a:ext cx="5074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Early warning signs are not always obvious or easy to interpret.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685800" y="3749040"/>
            <a:ext cx="585000" cy="585000"/>
          </a:xfrm>
          <a:prstGeom prst="ellipse">
            <a:avLst/>
          </a:prstGeom>
          <a:solidFill>
            <a:srgbClr val="c79d55"/>
          </a:solidFill>
          <a:ln w="12700">
            <a:solidFill>
              <a:srgbClr val="c79d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685800" y="3895200"/>
            <a:ext cx="585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02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1444680" y="37674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Information is incomplete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1444680" y="4114800"/>
            <a:ext cx="5074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Generic searches rarely account for pregnancy week, history, and recent readings together.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1"/>
          <p:cNvSpPr/>
          <p:nvPr/>
        </p:nvSpPr>
        <p:spPr>
          <a:xfrm>
            <a:off x="685800" y="4736520"/>
            <a:ext cx="585000" cy="585000"/>
          </a:xfrm>
          <a:prstGeom prst="ellipse">
            <a:avLst/>
          </a:prstGeom>
          <a:solidFill>
            <a:srgbClr val="51755a"/>
          </a:solidFill>
          <a:ln w="12700">
            <a:solidFill>
              <a:srgbClr val="517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685800" y="4883040"/>
            <a:ext cx="585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03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1444680" y="475488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Timing is the decision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1444680" y="5102280"/>
            <a:ext cx="5074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Women need clarity on when to monitor, contact a doctor, or seek urgent care.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5"/>
          <p:cNvSpPr/>
          <p:nvPr/>
        </p:nvSpPr>
        <p:spPr>
          <a:xfrm>
            <a:off x="7818120" y="1481400"/>
            <a:ext cx="3702960" cy="4315680"/>
          </a:xfrm>
          <a:prstGeom prst="roundRect">
            <a:avLst>
              <a:gd name="adj" fmla="val 1975"/>
            </a:avLst>
          </a:prstGeom>
          <a:solidFill>
            <a:srgbClr val="34283d"/>
          </a:solidFill>
          <a:ln w="12700">
            <a:solidFill>
              <a:srgbClr val="3428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8229600" y="187452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01" strike="noStrike" u="none">
                <a:solidFill>
                  <a:srgbClr val="e8c9ca"/>
                </a:solidFill>
                <a:effectLst/>
                <a:uFillTx/>
                <a:latin typeface="Aptos"/>
                <a:ea typeface="Aptos"/>
              </a:rPr>
              <a:t>The gap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8229600" y="2487240"/>
            <a:ext cx="29257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“Do I wait —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5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or act now?”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8"/>
          <p:cNvSpPr/>
          <p:nvPr/>
        </p:nvSpPr>
        <p:spPr>
          <a:xfrm>
            <a:off x="8229600" y="4224240"/>
            <a:ext cx="2468880" cy="360"/>
          </a:xfrm>
          <a:prstGeom prst="line">
            <a:avLst/>
          </a:prstGeom>
          <a:ln w="50800">
            <a:solidFill>
              <a:srgbClr val="e66f6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8229600" y="4626720"/>
            <a:ext cx="2742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e8c9ca"/>
                </a:solidFill>
                <a:effectLst/>
                <a:uFillTx/>
                <a:latin typeface="Aptos"/>
                <a:ea typeface="Aptos"/>
              </a:rPr>
              <a:t>BADIRA is designed for that moment of uncertainty.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112928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02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502920" y="6419160"/>
            <a:ext cx="8869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Source: BADIRA Business Model Canvas (uploaded)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594360" y="38412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01" strike="noStrike" u="none">
                <a:solidFill>
                  <a:srgbClr val="e66f63"/>
                </a:solidFill>
                <a:effectLst/>
                <a:uFillTx/>
                <a:latin typeface="Aptos"/>
                <a:ea typeface="Aptos"/>
              </a:rPr>
              <a:t>THE SOLUTION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594360" y="71316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100" strike="noStrike" u="none">
                <a:solidFill>
                  <a:srgbClr val="29232d"/>
                </a:solidFill>
                <a:effectLst/>
                <a:uFillTx/>
                <a:latin typeface="Georgia"/>
                <a:ea typeface="Georgia"/>
              </a:rPr>
              <a:t>One assessment. Three signals.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594360" y="1444680"/>
            <a:ext cx="10835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BADIRA combines pregnancy context with an explicit check on data quality — then communicates urgency without pretending to diagnose.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3"/>
          <p:cNvSpPr/>
          <p:nvPr/>
        </p:nvSpPr>
        <p:spPr>
          <a:xfrm>
            <a:off x="594360" y="2331720"/>
            <a:ext cx="3154320" cy="242280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"/>
          <p:cNvSpPr/>
          <p:nvPr/>
        </p:nvSpPr>
        <p:spPr>
          <a:xfrm>
            <a:off x="822960" y="2597040"/>
            <a:ext cx="585000" cy="585000"/>
          </a:xfrm>
          <a:prstGeom prst="ellipse">
            <a:avLst/>
          </a:prstGeom>
          <a:solidFill>
            <a:srgbClr val="e66f63"/>
          </a:solidFill>
          <a:ln w="12700">
            <a:solidFill>
              <a:srgbClr val="e66f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822960" y="2743200"/>
            <a:ext cx="585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1545480" y="2651760"/>
            <a:ext cx="1874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300" strike="noStrike" u="none">
                <a:solidFill>
                  <a:srgbClr val="29232d"/>
                </a:solidFill>
                <a:effectLst/>
                <a:uFillTx/>
                <a:latin typeface="Georgia"/>
                <a:ea typeface="Georgia"/>
              </a:rPr>
              <a:t>Risk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850320" y="3401640"/>
            <a:ext cx="265140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Screens submitted history, symptoms, and measurements for preeclampsia risk.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8"/>
          <p:cNvSpPr/>
          <p:nvPr/>
        </p:nvSpPr>
        <p:spPr>
          <a:xfrm>
            <a:off x="4087440" y="2331720"/>
            <a:ext cx="3154320" cy="242280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9"/>
          <p:cNvSpPr/>
          <p:nvPr/>
        </p:nvSpPr>
        <p:spPr>
          <a:xfrm>
            <a:off x="4316040" y="2597040"/>
            <a:ext cx="585000" cy="585000"/>
          </a:xfrm>
          <a:prstGeom prst="ellipse">
            <a:avLst/>
          </a:prstGeom>
          <a:solidFill>
            <a:srgbClr val="51755a"/>
          </a:solidFill>
          <a:ln w="12700">
            <a:solidFill>
              <a:srgbClr val="517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4316040" y="2743200"/>
            <a:ext cx="585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✓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5038200" y="2651760"/>
            <a:ext cx="1874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300" strike="noStrike" u="none">
                <a:solidFill>
                  <a:srgbClr val="29232d"/>
                </a:solidFill>
                <a:effectLst/>
                <a:uFillTx/>
                <a:latin typeface="Georgia"/>
                <a:ea typeface="Georgia"/>
              </a:rPr>
              <a:t>Reliability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4343400" y="3401640"/>
            <a:ext cx="265140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Checks completeness and consistency; asks for more information instead of guessing.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3"/>
          <p:cNvSpPr/>
          <p:nvPr/>
        </p:nvSpPr>
        <p:spPr>
          <a:xfrm>
            <a:off x="7580520" y="2331720"/>
            <a:ext cx="3154320" cy="242280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4"/>
          <p:cNvSpPr/>
          <p:nvPr/>
        </p:nvSpPr>
        <p:spPr>
          <a:xfrm>
            <a:off x="7809120" y="2597040"/>
            <a:ext cx="585000" cy="585000"/>
          </a:xfrm>
          <a:prstGeom prst="ellipse">
            <a:avLst/>
          </a:prstGeom>
          <a:solidFill>
            <a:srgbClr val="c79d55"/>
          </a:solidFill>
          <a:ln w="12700">
            <a:solidFill>
              <a:srgbClr val="c79d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7809120" y="2743200"/>
            <a:ext cx="585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6"/>
          <p:cNvSpPr/>
          <p:nvPr/>
        </p:nvSpPr>
        <p:spPr>
          <a:xfrm>
            <a:off x="8531280" y="2651760"/>
            <a:ext cx="1874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300" strike="noStrike" u="none">
                <a:solidFill>
                  <a:srgbClr val="29232d"/>
                </a:solidFill>
                <a:effectLst/>
                <a:uFillTx/>
                <a:latin typeface="Georgia"/>
                <a:ea typeface="Georgia"/>
              </a:rPr>
              <a:t>Time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7"/>
          <p:cNvSpPr/>
          <p:nvPr/>
        </p:nvSpPr>
        <p:spPr>
          <a:xfrm>
            <a:off x="7836480" y="3401640"/>
            <a:ext cx="265140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Uses gestational stage to make timing and urgency easier to understand.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8"/>
          <p:cNvSpPr/>
          <p:nvPr/>
        </p:nvSpPr>
        <p:spPr>
          <a:xfrm>
            <a:off x="1874520" y="5239440"/>
            <a:ext cx="8439480" cy="658080"/>
          </a:xfrm>
          <a:prstGeom prst="roundRect">
            <a:avLst>
              <a:gd name="adj" fmla="val 8333"/>
            </a:avLst>
          </a:prstGeom>
          <a:solidFill>
            <a:srgbClr val="34283d"/>
          </a:solidFill>
          <a:ln w="12700">
            <a:solidFill>
              <a:srgbClr val="3428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9"/>
          <p:cNvSpPr/>
          <p:nvPr/>
        </p:nvSpPr>
        <p:spPr>
          <a:xfrm>
            <a:off x="2148840" y="5449680"/>
            <a:ext cx="7909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Bilingual input  →  structured summary  →  share with a healthcare professional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0"/>
          <p:cNvSpPr/>
          <p:nvPr/>
        </p:nvSpPr>
        <p:spPr>
          <a:xfrm>
            <a:off x="3977640" y="6053400"/>
            <a:ext cx="4297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trike="noStrike" u="none">
                <a:solidFill>
                  <a:srgbClr val="34283d"/>
                </a:solidFill>
                <a:effectLst/>
                <a:uFillTx/>
                <a:latin typeface="Georgia"/>
                <a:ea typeface="Georgia"/>
              </a:rPr>
              <a:t>A bridge to the doctor — not a replacement.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1"/>
          <p:cNvSpPr/>
          <p:nvPr/>
        </p:nvSpPr>
        <p:spPr>
          <a:xfrm>
            <a:off x="112928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03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2"/>
          <p:cNvSpPr/>
          <p:nvPr/>
        </p:nvSpPr>
        <p:spPr>
          <a:xfrm>
            <a:off x="502920" y="6419160"/>
            <a:ext cx="8869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Source: BADIRA Business Model Canvas (uploaded)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594360" y="38412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01" strike="noStrike" u="none">
                <a:solidFill>
                  <a:srgbClr val="e66f63"/>
                </a:solidFill>
                <a:effectLst/>
                <a:uFillTx/>
                <a:latin typeface="Aptos"/>
                <a:ea typeface="Aptos"/>
              </a:rPr>
              <a:t>COMPETITIVE LANDSCAPE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594360" y="71316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100" strike="noStrike" u="none">
                <a:solidFill>
                  <a:srgbClr val="29232d"/>
                </a:solidFill>
                <a:effectLst/>
                <a:uFillTx/>
                <a:latin typeface="Georgia"/>
                <a:ea typeface="Georgia"/>
              </a:rPr>
              <a:t>Focused where broader platforms aren’t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"/>
          <p:cNvSpPr/>
          <p:nvPr/>
        </p:nvSpPr>
        <p:spPr>
          <a:xfrm>
            <a:off x="594360" y="1554480"/>
            <a:ext cx="2285640" cy="529920"/>
          </a:xfrm>
          <a:prstGeom prst="rect">
            <a:avLst/>
          </a:prstGeom>
          <a:solidFill>
            <a:srgbClr val="f2e5e5"/>
          </a:solidFill>
          <a:ln w="12700">
            <a:solidFill>
              <a:srgbClr val="fffc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667440" y="1728360"/>
            <a:ext cx="2139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Capability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4"/>
          <p:cNvSpPr/>
          <p:nvPr/>
        </p:nvSpPr>
        <p:spPr>
          <a:xfrm>
            <a:off x="2880360" y="1554480"/>
            <a:ext cx="2203200" cy="529920"/>
          </a:xfrm>
          <a:prstGeom prst="rect">
            <a:avLst/>
          </a:prstGeom>
          <a:solidFill>
            <a:srgbClr val="f2e5e5"/>
          </a:solidFill>
          <a:ln w="12700">
            <a:solidFill>
              <a:srgbClr val="fffc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2953440" y="1728360"/>
            <a:ext cx="2057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Materna BP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6"/>
          <p:cNvSpPr/>
          <p:nvPr/>
        </p:nvSpPr>
        <p:spPr>
          <a:xfrm>
            <a:off x="5083920" y="1554480"/>
            <a:ext cx="2203200" cy="529920"/>
          </a:xfrm>
          <a:prstGeom prst="rect">
            <a:avLst/>
          </a:prstGeom>
          <a:solidFill>
            <a:srgbClr val="f2e5e5"/>
          </a:solidFill>
          <a:ln w="12700">
            <a:solidFill>
              <a:srgbClr val="fffc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5157360" y="1728360"/>
            <a:ext cx="2057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Nabta Health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8"/>
          <p:cNvSpPr/>
          <p:nvPr/>
        </p:nvSpPr>
        <p:spPr>
          <a:xfrm>
            <a:off x="7287840" y="1554480"/>
            <a:ext cx="2203200" cy="529920"/>
          </a:xfrm>
          <a:prstGeom prst="rect">
            <a:avLst/>
          </a:prstGeom>
          <a:solidFill>
            <a:srgbClr val="f2e5e5"/>
          </a:solidFill>
          <a:ln w="12700">
            <a:solidFill>
              <a:srgbClr val="fffc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9"/>
          <p:cNvSpPr/>
          <p:nvPr/>
        </p:nvSpPr>
        <p:spPr>
          <a:xfrm>
            <a:off x="7360920" y="1728360"/>
            <a:ext cx="2057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Sehhaty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0"/>
          <p:cNvSpPr/>
          <p:nvPr/>
        </p:nvSpPr>
        <p:spPr>
          <a:xfrm>
            <a:off x="9491400" y="1554480"/>
            <a:ext cx="2102760" cy="529920"/>
          </a:xfrm>
          <a:prstGeom prst="rect">
            <a:avLst/>
          </a:prstGeom>
          <a:solidFill>
            <a:srgbClr val="34283d"/>
          </a:solidFill>
          <a:ln w="12700">
            <a:solidFill>
              <a:srgbClr val="fffc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1"/>
          <p:cNvSpPr/>
          <p:nvPr/>
        </p:nvSpPr>
        <p:spPr>
          <a:xfrm>
            <a:off x="9564480" y="1728360"/>
            <a:ext cx="1956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BADIRA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2"/>
          <p:cNvSpPr/>
          <p:nvPr/>
        </p:nvSpPr>
        <p:spPr>
          <a:xfrm>
            <a:off x="594360" y="2121480"/>
            <a:ext cx="2285640" cy="676440"/>
          </a:xfrm>
          <a:prstGeom prst="rect">
            <a:avLst/>
          </a:prstGeom>
          <a:solidFill>
            <a:srgbClr val="f9f5f3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3"/>
          <p:cNvSpPr/>
          <p:nvPr/>
        </p:nvSpPr>
        <p:spPr>
          <a:xfrm>
            <a:off x="676800" y="2231280"/>
            <a:ext cx="21211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Core focus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4"/>
          <p:cNvSpPr/>
          <p:nvPr/>
        </p:nvSpPr>
        <p:spPr>
          <a:xfrm>
            <a:off x="2880360" y="2121480"/>
            <a:ext cx="2203200" cy="676440"/>
          </a:xfrm>
          <a:prstGeom prst="rect">
            <a:avLst/>
          </a:prstGeom>
          <a:solidFill>
            <a:srgbClr val="f9f5f3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5"/>
          <p:cNvSpPr/>
          <p:nvPr/>
        </p:nvSpPr>
        <p:spPr>
          <a:xfrm>
            <a:off x="2962800" y="2231280"/>
            <a:ext cx="20386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Hypertension / preeclampsia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6"/>
          <p:cNvSpPr/>
          <p:nvPr/>
        </p:nvSpPr>
        <p:spPr>
          <a:xfrm>
            <a:off x="5083920" y="2121480"/>
            <a:ext cx="2203200" cy="676440"/>
          </a:xfrm>
          <a:prstGeom prst="rect">
            <a:avLst/>
          </a:prstGeom>
          <a:solidFill>
            <a:srgbClr val="f9f5f3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7"/>
          <p:cNvSpPr/>
          <p:nvPr/>
        </p:nvSpPr>
        <p:spPr>
          <a:xfrm>
            <a:off x="5166360" y="2231280"/>
            <a:ext cx="20386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Women’s health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8"/>
          <p:cNvSpPr/>
          <p:nvPr/>
        </p:nvSpPr>
        <p:spPr>
          <a:xfrm>
            <a:off x="7287840" y="2121480"/>
            <a:ext cx="2203200" cy="676440"/>
          </a:xfrm>
          <a:prstGeom prst="rect">
            <a:avLst/>
          </a:prstGeom>
          <a:solidFill>
            <a:srgbClr val="f9f5f3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9"/>
          <p:cNvSpPr/>
          <p:nvPr/>
        </p:nvSpPr>
        <p:spPr>
          <a:xfrm>
            <a:off x="7369920" y="2231280"/>
            <a:ext cx="20386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National healthcare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0"/>
          <p:cNvSpPr/>
          <p:nvPr/>
        </p:nvSpPr>
        <p:spPr>
          <a:xfrm>
            <a:off x="9491400" y="2121480"/>
            <a:ext cx="2102760" cy="676440"/>
          </a:xfrm>
          <a:prstGeom prst="rect">
            <a:avLst/>
          </a:prstGeom>
          <a:solidFill>
            <a:srgbClr val="f7efee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1"/>
          <p:cNvSpPr/>
          <p:nvPr/>
        </p:nvSpPr>
        <p:spPr>
          <a:xfrm>
            <a:off x="9573840" y="2231280"/>
            <a:ext cx="193824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Preeclampsia awareness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2"/>
          <p:cNvSpPr/>
          <p:nvPr/>
        </p:nvSpPr>
        <p:spPr>
          <a:xfrm>
            <a:off x="594360" y="2834640"/>
            <a:ext cx="2285640" cy="676440"/>
          </a:xfrm>
          <a:prstGeom prst="rect">
            <a:avLst/>
          </a:prstGeom>
          <a:solidFill>
            <a:srgbClr val="ffffff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3"/>
          <p:cNvSpPr/>
          <p:nvPr/>
        </p:nvSpPr>
        <p:spPr>
          <a:xfrm>
            <a:off x="676800" y="2944440"/>
            <a:ext cx="21211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Explicit reliability layer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4"/>
          <p:cNvSpPr/>
          <p:nvPr/>
        </p:nvSpPr>
        <p:spPr>
          <a:xfrm>
            <a:off x="2880360" y="2834640"/>
            <a:ext cx="2203200" cy="676440"/>
          </a:xfrm>
          <a:prstGeom prst="rect">
            <a:avLst/>
          </a:prstGeom>
          <a:solidFill>
            <a:srgbClr val="ffffff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5"/>
          <p:cNvSpPr/>
          <p:nvPr/>
        </p:nvSpPr>
        <p:spPr>
          <a:xfrm>
            <a:off x="2962800" y="2944440"/>
            <a:ext cx="20386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Not clearly positioned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6"/>
          <p:cNvSpPr/>
          <p:nvPr/>
        </p:nvSpPr>
        <p:spPr>
          <a:xfrm>
            <a:off x="5083920" y="2834640"/>
            <a:ext cx="2203200" cy="676440"/>
          </a:xfrm>
          <a:prstGeom prst="rect">
            <a:avLst/>
          </a:prstGeom>
          <a:solidFill>
            <a:srgbClr val="ffffff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7"/>
          <p:cNvSpPr/>
          <p:nvPr/>
        </p:nvSpPr>
        <p:spPr>
          <a:xfrm>
            <a:off x="5166360" y="2944440"/>
            <a:ext cx="20386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Not core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8"/>
          <p:cNvSpPr/>
          <p:nvPr/>
        </p:nvSpPr>
        <p:spPr>
          <a:xfrm>
            <a:off x="7287840" y="2834640"/>
            <a:ext cx="2203200" cy="676440"/>
          </a:xfrm>
          <a:prstGeom prst="rect">
            <a:avLst/>
          </a:prstGeom>
          <a:solidFill>
            <a:srgbClr val="ffffff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9"/>
          <p:cNvSpPr/>
          <p:nvPr/>
        </p:nvSpPr>
        <p:spPr>
          <a:xfrm>
            <a:off x="7369920" y="2944440"/>
            <a:ext cx="20386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Not dedicated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0"/>
          <p:cNvSpPr/>
          <p:nvPr/>
        </p:nvSpPr>
        <p:spPr>
          <a:xfrm>
            <a:off x="9491400" y="2834640"/>
            <a:ext cx="2102760" cy="676440"/>
          </a:xfrm>
          <a:prstGeom prst="rect">
            <a:avLst/>
          </a:prstGeom>
          <a:solidFill>
            <a:srgbClr val="f7efee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1"/>
          <p:cNvSpPr/>
          <p:nvPr/>
        </p:nvSpPr>
        <p:spPr>
          <a:xfrm>
            <a:off x="9573840" y="2944440"/>
            <a:ext cx="193824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Core differentiator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2"/>
          <p:cNvSpPr/>
          <p:nvPr/>
        </p:nvSpPr>
        <p:spPr>
          <a:xfrm>
            <a:off x="594360" y="3547800"/>
            <a:ext cx="2285640" cy="676440"/>
          </a:xfrm>
          <a:prstGeom prst="rect">
            <a:avLst/>
          </a:prstGeom>
          <a:solidFill>
            <a:srgbClr val="f9f5f3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3"/>
          <p:cNvSpPr/>
          <p:nvPr/>
        </p:nvSpPr>
        <p:spPr>
          <a:xfrm>
            <a:off x="676800" y="3657600"/>
            <a:ext cx="21211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Risk × Reliability × Time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4"/>
          <p:cNvSpPr/>
          <p:nvPr/>
        </p:nvSpPr>
        <p:spPr>
          <a:xfrm>
            <a:off x="2880360" y="3547800"/>
            <a:ext cx="2203200" cy="676440"/>
          </a:xfrm>
          <a:prstGeom prst="rect">
            <a:avLst/>
          </a:prstGeom>
          <a:solidFill>
            <a:srgbClr val="f9f5f3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5"/>
          <p:cNvSpPr/>
          <p:nvPr/>
        </p:nvSpPr>
        <p:spPr>
          <a:xfrm>
            <a:off x="2962800" y="3657600"/>
            <a:ext cx="20386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No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6"/>
          <p:cNvSpPr/>
          <p:nvPr/>
        </p:nvSpPr>
        <p:spPr>
          <a:xfrm>
            <a:off x="5083920" y="3547800"/>
            <a:ext cx="2203200" cy="676440"/>
          </a:xfrm>
          <a:prstGeom prst="rect">
            <a:avLst/>
          </a:prstGeom>
          <a:solidFill>
            <a:srgbClr val="f9f5f3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7"/>
          <p:cNvSpPr/>
          <p:nvPr/>
        </p:nvSpPr>
        <p:spPr>
          <a:xfrm>
            <a:off x="5166360" y="3657600"/>
            <a:ext cx="20386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No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38"/>
          <p:cNvSpPr/>
          <p:nvPr/>
        </p:nvSpPr>
        <p:spPr>
          <a:xfrm>
            <a:off x="7287840" y="3547800"/>
            <a:ext cx="2203200" cy="676440"/>
          </a:xfrm>
          <a:prstGeom prst="rect">
            <a:avLst/>
          </a:prstGeom>
          <a:solidFill>
            <a:srgbClr val="f9f5f3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9"/>
          <p:cNvSpPr/>
          <p:nvPr/>
        </p:nvSpPr>
        <p:spPr>
          <a:xfrm>
            <a:off x="7369920" y="3657600"/>
            <a:ext cx="20386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No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40"/>
          <p:cNvSpPr/>
          <p:nvPr/>
        </p:nvSpPr>
        <p:spPr>
          <a:xfrm>
            <a:off x="9491400" y="3547800"/>
            <a:ext cx="2102760" cy="676440"/>
          </a:xfrm>
          <a:prstGeom prst="rect">
            <a:avLst/>
          </a:prstGeom>
          <a:solidFill>
            <a:srgbClr val="e66f63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1"/>
          <p:cNvSpPr/>
          <p:nvPr/>
        </p:nvSpPr>
        <p:spPr>
          <a:xfrm>
            <a:off x="9573840" y="3657600"/>
            <a:ext cx="193824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Yes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42"/>
          <p:cNvSpPr/>
          <p:nvPr/>
        </p:nvSpPr>
        <p:spPr>
          <a:xfrm>
            <a:off x="594360" y="4260960"/>
            <a:ext cx="2285640" cy="676440"/>
          </a:xfrm>
          <a:prstGeom prst="rect">
            <a:avLst/>
          </a:prstGeom>
          <a:solidFill>
            <a:srgbClr val="ffffff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3"/>
          <p:cNvSpPr/>
          <p:nvPr/>
        </p:nvSpPr>
        <p:spPr>
          <a:xfrm>
            <a:off x="676800" y="4370760"/>
            <a:ext cx="21211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Saudi / Arab positioning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44"/>
          <p:cNvSpPr/>
          <p:nvPr/>
        </p:nvSpPr>
        <p:spPr>
          <a:xfrm>
            <a:off x="2880360" y="4260960"/>
            <a:ext cx="2203200" cy="676440"/>
          </a:xfrm>
          <a:prstGeom prst="rect">
            <a:avLst/>
          </a:prstGeom>
          <a:solidFill>
            <a:srgbClr val="ffffff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5"/>
          <p:cNvSpPr/>
          <p:nvPr/>
        </p:nvSpPr>
        <p:spPr>
          <a:xfrm>
            <a:off x="2962800" y="4370760"/>
            <a:ext cx="20386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International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46"/>
          <p:cNvSpPr/>
          <p:nvPr/>
        </p:nvSpPr>
        <p:spPr>
          <a:xfrm>
            <a:off x="5083920" y="4260960"/>
            <a:ext cx="2203200" cy="676440"/>
          </a:xfrm>
          <a:prstGeom prst="rect">
            <a:avLst/>
          </a:prstGeom>
          <a:solidFill>
            <a:srgbClr val="ffffff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47"/>
          <p:cNvSpPr/>
          <p:nvPr/>
        </p:nvSpPr>
        <p:spPr>
          <a:xfrm>
            <a:off x="5166360" y="4370760"/>
            <a:ext cx="20386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Regional / MENA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48"/>
          <p:cNvSpPr/>
          <p:nvPr/>
        </p:nvSpPr>
        <p:spPr>
          <a:xfrm>
            <a:off x="7287840" y="4260960"/>
            <a:ext cx="2203200" cy="676440"/>
          </a:xfrm>
          <a:prstGeom prst="rect">
            <a:avLst/>
          </a:prstGeom>
          <a:solidFill>
            <a:srgbClr val="ffffff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49"/>
          <p:cNvSpPr/>
          <p:nvPr/>
        </p:nvSpPr>
        <p:spPr>
          <a:xfrm>
            <a:off x="7369920" y="4370760"/>
            <a:ext cx="20386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Saudi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50"/>
          <p:cNvSpPr/>
          <p:nvPr/>
        </p:nvSpPr>
        <p:spPr>
          <a:xfrm>
            <a:off x="9491400" y="4260960"/>
            <a:ext cx="2102760" cy="676440"/>
          </a:xfrm>
          <a:prstGeom prst="rect">
            <a:avLst/>
          </a:prstGeom>
          <a:solidFill>
            <a:srgbClr val="f7efee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51"/>
          <p:cNvSpPr/>
          <p:nvPr/>
        </p:nvSpPr>
        <p:spPr>
          <a:xfrm>
            <a:off x="9573840" y="4370760"/>
            <a:ext cx="193824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Saudi + Arab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52"/>
          <p:cNvSpPr/>
          <p:nvPr/>
        </p:nvSpPr>
        <p:spPr>
          <a:xfrm>
            <a:off x="594360" y="4974480"/>
            <a:ext cx="2285640" cy="676440"/>
          </a:xfrm>
          <a:prstGeom prst="rect">
            <a:avLst/>
          </a:prstGeom>
          <a:solidFill>
            <a:srgbClr val="f9f5f3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53"/>
          <p:cNvSpPr/>
          <p:nvPr/>
        </p:nvSpPr>
        <p:spPr>
          <a:xfrm>
            <a:off x="676800" y="5083920"/>
            <a:ext cx="21211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Bilingual product design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54"/>
          <p:cNvSpPr/>
          <p:nvPr/>
        </p:nvSpPr>
        <p:spPr>
          <a:xfrm>
            <a:off x="2880360" y="4974480"/>
            <a:ext cx="2203200" cy="676440"/>
          </a:xfrm>
          <a:prstGeom prst="rect">
            <a:avLst/>
          </a:prstGeom>
          <a:solidFill>
            <a:srgbClr val="f9f5f3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55"/>
          <p:cNvSpPr/>
          <p:nvPr/>
        </p:nvSpPr>
        <p:spPr>
          <a:xfrm>
            <a:off x="2962800" y="5083920"/>
            <a:ext cx="20386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Not BADIRA’s positioning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56"/>
          <p:cNvSpPr/>
          <p:nvPr/>
        </p:nvSpPr>
        <p:spPr>
          <a:xfrm>
            <a:off x="5083920" y="4974480"/>
            <a:ext cx="2203200" cy="676440"/>
          </a:xfrm>
          <a:prstGeom prst="rect">
            <a:avLst/>
          </a:prstGeom>
          <a:solidFill>
            <a:srgbClr val="f9f5f3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57"/>
          <p:cNvSpPr/>
          <p:nvPr/>
        </p:nvSpPr>
        <p:spPr>
          <a:xfrm>
            <a:off x="5166360" y="5083920"/>
            <a:ext cx="20386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Regional positioning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58"/>
          <p:cNvSpPr/>
          <p:nvPr/>
        </p:nvSpPr>
        <p:spPr>
          <a:xfrm>
            <a:off x="7287840" y="4974480"/>
            <a:ext cx="2203200" cy="676440"/>
          </a:xfrm>
          <a:prstGeom prst="rect">
            <a:avLst/>
          </a:prstGeom>
          <a:solidFill>
            <a:srgbClr val="f9f5f3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59"/>
          <p:cNvSpPr/>
          <p:nvPr/>
        </p:nvSpPr>
        <p:spPr>
          <a:xfrm>
            <a:off x="7369920" y="5083920"/>
            <a:ext cx="203868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Arabic + English environment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60"/>
          <p:cNvSpPr/>
          <p:nvPr/>
        </p:nvSpPr>
        <p:spPr>
          <a:xfrm>
            <a:off x="9491400" y="4974480"/>
            <a:ext cx="2102760" cy="676440"/>
          </a:xfrm>
          <a:prstGeom prst="rect">
            <a:avLst/>
          </a:prstGeom>
          <a:solidFill>
            <a:srgbClr val="f7efee"/>
          </a:solidFill>
          <a:ln w="762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61"/>
          <p:cNvSpPr/>
          <p:nvPr/>
        </p:nvSpPr>
        <p:spPr>
          <a:xfrm>
            <a:off x="9573840" y="5083920"/>
            <a:ext cx="193824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trike="noStrike" u="none">
                <a:solidFill>
                  <a:srgbClr val="29232d"/>
                </a:solidFill>
                <a:effectLst/>
                <a:uFillTx/>
                <a:latin typeface="Aptos"/>
                <a:ea typeface="Aptos"/>
              </a:rPr>
              <a:t>Built into the experience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62"/>
          <p:cNvSpPr/>
          <p:nvPr/>
        </p:nvSpPr>
        <p:spPr>
          <a:xfrm>
            <a:off x="594360" y="5989320"/>
            <a:ext cx="10999800" cy="347040"/>
          </a:xfrm>
          <a:prstGeom prst="roundRect">
            <a:avLst>
              <a:gd name="adj" fmla="val 10526"/>
            </a:avLst>
          </a:prstGeom>
          <a:solidFill>
            <a:srgbClr val="a9b9a2"/>
          </a:solidFill>
          <a:ln w="12700">
            <a:solidFill>
              <a:srgbClr val="a9b9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63"/>
          <p:cNvSpPr/>
          <p:nvPr/>
        </p:nvSpPr>
        <p:spPr>
          <a:xfrm>
            <a:off x="822960" y="6089760"/>
            <a:ext cx="10560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34283d"/>
                </a:solidFill>
                <a:effectLst/>
                <a:uFillTx/>
                <a:latin typeface="Aptos"/>
                <a:ea typeface="Aptos"/>
              </a:rPr>
              <a:t>Positioning: specialized early-awareness companion — not a universal replacement for clinical care.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4"/>
          <p:cNvSpPr/>
          <p:nvPr/>
        </p:nvSpPr>
        <p:spPr>
          <a:xfrm>
            <a:off x="112928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04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65"/>
          <p:cNvSpPr/>
          <p:nvPr/>
        </p:nvSpPr>
        <p:spPr>
          <a:xfrm>
            <a:off x="502920" y="6419160"/>
            <a:ext cx="8869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Source: BADIRA — Top 3 Competitor Comparison (uploaded)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4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594360" y="38412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01" strike="noStrike" u="none">
                <a:solidFill>
                  <a:srgbClr val="e8c9ca"/>
                </a:solidFill>
                <a:effectLst/>
                <a:uFillTx/>
                <a:latin typeface="Aptos"/>
                <a:ea typeface="Aptos"/>
              </a:rPr>
              <a:t>WHY BADIRA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594360" y="71316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1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 sharper answer to a specific decision</a:t>
            </a:r>
            <a:endParaRPr b="0" lang="en-US" sz="3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594360" y="1463040"/>
            <a:ext cx="7406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e8c9ca"/>
                </a:solidFill>
                <a:effectLst/>
                <a:uFillTx/>
                <a:latin typeface="Aptos"/>
                <a:ea typeface="Aptos"/>
              </a:rPr>
              <a:t>BADIRA’s advantage is not “more features.” It is a focused, honest framework designed around early awareness for Saudi and Arab women.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"/>
          <p:cNvSpPr/>
          <p:nvPr/>
        </p:nvSpPr>
        <p:spPr>
          <a:xfrm>
            <a:off x="594360" y="2487240"/>
            <a:ext cx="5074560" cy="1170000"/>
          </a:xfrm>
          <a:prstGeom prst="roundRect">
            <a:avLst>
              <a:gd name="adj" fmla="val 4688"/>
            </a:avLst>
          </a:prstGeom>
          <a:solidFill>
            <a:srgbClr val="e66f63"/>
          </a:solidFill>
          <a:ln w="12700">
            <a:solidFill>
              <a:srgbClr val="e66f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813960" y="265176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e8c9ca"/>
                </a:solidFill>
                <a:effectLst/>
                <a:uFillTx/>
                <a:latin typeface="Aptos"/>
                <a:ea typeface="Aptos"/>
              </a:rPr>
              <a:t>01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1371600" y="2633400"/>
            <a:ext cx="2422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Focused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1371600" y="3017520"/>
            <a:ext cx="3885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8c9ca"/>
                </a:solidFill>
                <a:effectLst/>
                <a:uFillTx/>
                <a:latin typeface="Aptos"/>
                <a:ea typeface="Aptos"/>
              </a:rPr>
              <a:t>Preeclampsia awareness is the core purpose — not one feature inside a broad platform.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7"/>
          <p:cNvSpPr/>
          <p:nvPr/>
        </p:nvSpPr>
        <p:spPr>
          <a:xfrm>
            <a:off x="6126480" y="2487240"/>
            <a:ext cx="5074560" cy="1170000"/>
          </a:xfrm>
          <a:prstGeom prst="roundRect">
            <a:avLst>
              <a:gd name="adj" fmla="val 4688"/>
            </a:avLst>
          </a:prstGeom>
          <a:solidFill>
            <a:srgbClr val="4e3b59"/>
          </a:solidFill>
          <a:ln w="12700">
            <a:solidFill>
              <a:srgbClr val="4e3b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8"/>
          <p:cNvSpPr/>
          <p:nvPr/>
        </p:nvSpPr>
        <p:spPr>
          <a:xfrm>
            <a:off x="6346080" y="265176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e8c9ca"/>
                </a:solidFill>
                <a:effectLst/>
                <a:uFillTx/>
                <a:latin typeface="Aptos"/>
                <a:ea typeface="Aptos"/>
              </a:rPr>
              <a:t>02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9"/>
          <p:cNvSpPr/>
          <p:nvPr/>
        </p:nvSpPr>
        <p:spPr>
          <a:xfrm>
            <a:off x="6903720" y="2633400"/>
            <a:ext cx="2422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Honest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0"/>
          <p:cNvSpPr/>
          <p:nvPr/>
        </p:nvSpPr>
        <p:spPr>
          <a:xfrm>
            <a:off x="6903720" y="3017520"/>
            <a:ext cx="3885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8c9ca"/>
                </a:solidFill>
                <a:effectLst/>
                <a:uFillTx/>
                <a:latin typeface="Aptos"/>
                <a:ea typeface="Aptos"/>
              </a:rPr>
              <a:t>Reliability is visible; missing information triggers questions rather than false certainty.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1"/>
          <p:cNvSpPr/>
          <p:nvPr/>
        </p:nvSpPr>
        <p:spPr>
          <a:xfrm>
            <a:off x="594360" y="3968640"/>
            <a:ext cx="5074560" cy="1170000"/>
          </a:xfrm>
          <a:prstGeom prst="roundRect">
            <a:avLst>
              <a:gd name="adj" fmla="val 4688"/>
            </a:avLst>
          </a:prstGeom>
          <a:solidFill>
            <a:srgbClr val="4e3b59"/>
          </a:solidFill>
          <a:ln w="12700">
            <a:solidFill>
              <a:srgbClr val="4e3b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2"/>
          <p:cNvSpPr/>
          <p:nvPr/>
        </p:nvSpPr>
        <p:spPr>
          <a:xfrm>
            <a:off x="813960" y="413316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e8c9ca"/>
                </a:solidFill>
                <a:effectLst/>
                <a:uFillTx/>
                <a:latin typeface="Aptos"/>
                <a:ea typeface="Aptos"/>
              </a:rPr>
              <a:t>03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3"/>
          <p:cNvSpPr/>
          <p:nvPr/>
        </p:nvSpPr>
        <p:spPr>
          <a:xfrm>
            <a:off x="1371600" y="4114800"/>
            <a:ext cx="2422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Localized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4"/>
          <p:cNvSpPr/>
          <p:nvPr/>
        </p:nvSpPr>
        <p:spPr>
          <a:xfrm>
            <a:off x="1371600" y="4498920"/>
            <a:ext cx="3885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8c9ca"/>
                </a:solidFill>
                <a:effectLst/>
                <a:uFillTx/>
                <a:latin typeface="Aptos"/>
                <a:ea typeface="Aptos"/>
              </a:rPr>
              <a:t>Arabic + English communication and Saudi / Arab context are part of the product design.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5"/>
          <p:cNvSpPr/>
          <p:nvPr/>
        </p:nvSpPr>
        <p:spPr>
          <a:xfrm>
            <a:off x="6126480" y="3968640"/>
            <a:ext cx="5074560" cy="1170000"/>
          </a:xfrm>
          <a:prstGeom prst="roundRect">
            <a:avLst>
              <a:gd name="adj" fmla="val 4688"/>
            </a:avLst>
          </a:prstGeom>
          <a:solidFill>
            <a:srgbClr val="4e3b59"/>
          </a:solidFill>
          <a:ln w="12700">
            <a:solidFill>
              <a:srgbClr val="4e3b5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6"/>
          <p:cNvSpPr/>
          <p:nvPr/>
        </p:nvSpPr>
        <p:spPr>
          <a:xfrm>
            <a:off x="6346080" y="413316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e8c9ca"/>
                </a:solidFill>
                <a:effectLst/>
                <a:uFillTx/>
                <a:latin typeface="Aptos"/>
                <a:ea typeface="Aptos"/>
              </a:rPr>
              <a:t>04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7"/>
          <p:cNvSpPr/>
          <p:nvPr/>
        </p:nvSpPr>
        <p:spPr>
          <a:xfrm>
            <a:off x="6903720" y="4114800"/>
            <a:ext cx="2422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Action-oriented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8"/>
          <p:cNvSpPr/>
          <p:nvPr/>
        </p:nvSpPr>
        <p:spPr>
          <a:xfrm>
            <a:off x="6903720" y="4498920"/>
            <a:ext cx="38858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e8c9ca"/>
                </a:solidFill>
                <a:effectLst/>
                <a:uFillTx/>
                <a:latin typeface="Aptos"/>
                <a:ea typeface="Aptos"/>
              </a:rPr>
              <a:t>The output links risk and timing into a concise summary to share with a professional.</a:t>
            </a:r>
            <a:endParaRPr b="0" lang="en-US" sz="12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9"/>
          <p:cNvSpPr/>
          <p:nvPr/>
        </p:nvSpPr>
        <p:spPr>
          <a:xfrm>
            <a:off x="3063240" y="5806440"/>
            <a:ext cx="6080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Risk  ×  Reliability  ×  Time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0"/>
          <p:cNvSpPr/>
          <p:nvPr/>
        </p:nvSpPr>
        <p:spPr>
          <a:xfrm>
            <a:off x="112928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05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1"/>
          <p:cNvSpPr/>
          <p:nvPr/>
        </p:nvSpPr>
        <p:spPr>
          <a:xfrm>
            <a:off x="502920" y="6419160"/>
            <a:ext cx="8869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Sources: BADIRA Business Model Canvas + competitor comparison (uploaded)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ef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594360" y="38412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201" strike="noStrike" u="none">
                <a:solidFill>
                  <a:srgbClr val="e66f63"/>
                </a:solidFill>
                <a:effectLst/>
                <a:uFillTx/>
                <a:latin typeface="Aptos"/>
                <a:ea typeface="Aptos"/>
              </a:rPr>
              <a:t>PRODUCT DEMO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594360" y="713160"/>
            <a:ext cx="10881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100" strike="noStrike" u="none">
                <a:solidFill>
                  <a:srgbClr val="29232d"/>
                </a:solidFill>
                <a:effectLst/>
                <a:uFillTx/>
                <a:latin typeface="Georgia"/>
                <a:ea typeface="Georgia"/>
              </a:rPr>
              <a:t>From profile to assessment in one clear flow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"/>
          <p:cNvSpPr/>
          <p:nvPr/>
        </p:nvSpPr>
        <p:spPr>
          <a:xfrm>
            <a:off x="594360" y="1417320"/>
            <a:ext cx="4754520" cy="4525920"/>
          </a:xfrm>
          <a:prstGeom prst="roundRect">
            <a:avLst>
              <a:gd name="adj" fmla="val 1616"/>
            </a:avLst>
          </a:prstGeom>
          <a:solidFill>
            <a:srgbClr val="fffcfa"/>
          </a:solidFill>
          <a:ln w="12700">
            <a:solidFill>
              <a:srgbClr val="ded5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Image 0" descr="BADIRA mobile application home screen"/>
          <p:cNvPicPr/>
          <p:nvPr/>
        </p:nvPicPr>
        <p:blipFill>
          <a:blip r:embed="rId1"/>
          <a:stretch/>
        </p:blipFill>
        <p:spPr>
          <a:xfrm>
            <a:off x="1920240" y="1572840"/>
            <a:ext cx="2093760" cy="411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3">
            <a:hlinkClick r:id="rId2"/>
          </p:cNvPr>
          <p:cNvSpPr/>
          <p:nvPr/>
        </p:nvSpPr>
        <p:spPr>
          <a:xfrm>
            <a:off x="2066400" y="562356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sng">
                <a:solidFill>
                  <a:srgbClr val="34283d"/>
                </a:solidFill>
                <a:effectLst/>
                <a:uFillTx/>
                <a:latin typeface="Aptos"/>
                <a:ea typeface="Aptos"/>
                <a:hlinkClick r:id="rId3"/>
              </a:rPr>
              <a:t>Live prototype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4"/>
          <p:cNvSpPr/>
          <p:nvPr/>
        </p:nvSpPr>
        <p:spPr>
          <a:xfrm>
            <a:off x="5897880" y="1600200"/>
            <a:ext cx="585000" cy="585000"/>
          </a:xfrm>
          <a:prstGeom prst="ellipse">
            <a:avLst/>
          </a:prstGeom>
          <a:solidFill>
            <a:srgbClr val="34283d"/>
          </a:solidFill>
          <a:ln w="12700">
            <a:solidFill>
              <a:srgbClr val="3428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5897880" y="1746360"/>
            <a:ext cx="585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1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6"/>
          <p:cNvSpPr/>
          <p:nvPr/>
        </p:nvSpPr>
        <p:spPr>
          <a:xfrm>
            <a:off x="6693480" y="162756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29232d"/>
                </a:solidFill>
                <a:effectLst/>
                <a:uFillTx/>
                <a:latin typeface="Georgia"/>
                <a:ea typeface="Georgia"/>
              </a:rPr>
              <a:t>Confirm context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7"/>
          <p:cNvSpPr/>
          <p:nvPr/>
        </p:nvSpPr>
        <p:spPr>
          <a:xfrm>
            <a:off x="6693480" y="2020680"/>
            <a:ext cx="4388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Pregnancy week, history, symptoms, and measurements.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8"/>
          <p:cNvSpPr/>
          <p:nvPr/>
        </p:nvSpPr>
        <p:spPr>
          <a:xfrm>
            <a:off x="5897880" y="2862000"/>
            <a:ext cx="585000" cy="585000"/>
          </a:xfrm>
          <a:prstGeom prst="ellipse">
            <a:avLst/>
          </a:prstGeom>
          <a:solidFill>
            <a:srgbClr val="e66f63"/>
          </a:solidFill>
          <a:ln w="12700">
            <a:solidFill>
              <a:srgbClr val="e66f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9"/>
          <p:cNvSpPr/>
          <p:nvPr/>
        </p:nvSpPr>
        <p:spPr>
          <a:xfrm>
            <a:off x="5897880" y="3008520"/>
            <a:ext cx="585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2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0"/>
          <p:cNvSpPr/>
          <p:nvPr/>
        </p:nvSpPr>
        <p:spPr>
          <a:xfrm>
            <a:off x="6693480" y="288936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29232d"/>
                </a:solidFill>
                <a:effectLst/>
                <a:uFillTx/>
                <a:latin typeface="Georgia"/>
                <a:ea typeface="Georgia"/>
              </a:rPr>
              <a:t>Start assessment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1"/>
          <p:cNvSpPr/>
          <p:nvPr/>
        </p:nvSpPr>
        <p:spPr>
          <a:xfrm>
            <a:off x="6693480" y="3282840"/>
            <a:ext cx="4388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BADIRA evaluates Risk × Reliability × Time together.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2"/>
          <p:cNvSpPr/>
          <p:nvPr/>
        </p:nvSpPr>
        <p:spPr>
          <a:xfrm>
            <a:off x="5897880" y="4123800"/>
            <a:ext cx="585000" cy="585000"/>
          </a:xfrm>
          <a:prstGeom prst="ellipse">
            <a:avLst/>
          </a:prstGeom>
          <a:solidFill>
            <a:srgbClr val="34283d"/>
          </a:solidFill>
          <a:ln w="12700">
            <a:solidFill>
              <a:srgbClr val="3428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3"/>
          <p:cNvSpPr/>
          <p:nvPr/>
        </p:nvSpPr>
        <p:spPr>
          <a:xfrm>
            <a:off x="5897880" y="4270320"/>
            <a:ext cx="585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3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4"/>
          <p:cNvSpPr/>
          <p:nvPr/>
        </p:nvSpPr>
        <p:spPr>
          <a:xfrm>
            <a:off x="6693480" y="415152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29232d"/>
                </a:solidFill>
                <a:effectLst/>
                <a:uFillTx/>
                <a:latin typeface="Georgia"/>
                <a:ea typeface="Georgia"/>
              </a:rPr>
              <a:t>Act with clarity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5"/>
          <p:cNvSpPr/>
          <p:nvPr/>
        </p:nvSpPr>
        <p:spPr>
          <a:xfrm>
            <a:off x="6693480" y="4544640"/>
            <a:ext cx="4388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5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Review the result and share a structured summary with a healthcare professional.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6"/>
          <p:cNvSpPr/>
          <p:nvPr/>
        </p:nvSpPr>
        <p:spPr>
          <a:xfrm>
            <a:off x="5897880" y="5440680"/>
            <a:ext cx="4983120" cy="566640"/>
          </a:xfrm>
          <a:prstGeom prst="roundRect">
            <a:avLst>
              <a:gd name="adj" fmla="val 8065"/>
            </a:avLst>
          </a:prstGeom>
          <a:solidFill>
            <a:srgbClr val="34283d"/>
          </a:solidFill>
          <a:ln w="12700">
            <a:solidFill>
              <a:srgbClr val="3428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7">
            <a:hlinkClick r:id="rId4"/>
          </p:cNvPr>
          <p:cNvSpPr/>
          <p:nvPr/>
        </p:nvSpPr>
        <p:spPr>
          <a:xfrm>
            <a:off x="6190560" y="5632560"/>
            <a:ext cx="4388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sng">
                <a:solidFill>
                  <a:srgbClr val="ffffff"/>
                </a:solidFill>
                <a:effectLst/>
                <a:uFillTx/>
                <a:latin typeface="Aptos"/>
                <a:ea typeface="Aptos"/>
                <a:hlinkClick r:id="rId5"/>
              </a:rPr>
              <a:t>Open BADIRA demo  →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8"/>
          <p:cNvSpPr/>
          <p:nvPr/>
        </p:nvSpPr>
        <p:spPr>
          <a:xfrm>
            <a:off x="6537960" y="6144840"/>
            <a:ext cx="3730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Not a diagnosis. BADIRA supports early awareness.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9"/>
          <p:cNvSpPr/>
          <p:nvPr/>
        </p:nvSpPr>
        <p:spPr>
          <a:xfrm>
            <a:off x="11292840" y="6446520"/>
            <a:ext cx="383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06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0"/>
          <p:cNvSpPr/>
          <p:nvPr/>
        </p:nvSpPr>
        <p:spPr>
          <a:xfrm>
            <a:off x="502920" y="6419160"/>
            <a:ext cx="8869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716a73"/>
                </a:solidFill>
                <a:effectLst/>
                <a:uFillTx/>
                <a:latin typeface="Aptos"/>
                <a:ea typeface="Aptos"/>
              </a:rPr>
              <a:t>Demo: badira-ai.netlify.app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LibreOffice/25.2.6.2$Linux_X86_64 LibreOffice_project/520$Build-2</Application>
  <AppVersion>15.0000</AppVersion>
  <Words>0</Words>
  <Paragraphs>0</Paragraphs>
  <Company>BADIRA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2026-09-17T00:33:59Z</dcterms:created>
  <dc:creator>Dana Al Mounayer</dc:creator>
  <dc:description/>
  <dc:language>en-US</dc:language>
  <cp:lastModifiedBy>Dana Al Mounayer</cp:lastModifiedBy>
  <dcterms:modified xsi:type="dcterms:W3CDTF">2026-09-17T00:33:59Z</dcterms:modified>
  <cp:revision>1</cp:revision>
  <dc:subject>BADIRA pitch overview</dc:subject>
  <dc:title>BADIRA — Early awareness for preeclampsia risk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6</vt:r8>
  </property>
  <property fmtid="{D5CDD505-2E9C-101B-9397-08002B2CF9AE}" pid="3" name="PresentationFormat">
    <vt:lpwstr>On-screen Show (16:9)</vt:lpwstr>
  </property>
  <property fmtid="{D5CDD505-2E9C-101B-9397-08002B2CF9AE}" pid="4" name="Slides">
    <vt:r8>6</vt:r8>
  </property>
</Properties>
</file>