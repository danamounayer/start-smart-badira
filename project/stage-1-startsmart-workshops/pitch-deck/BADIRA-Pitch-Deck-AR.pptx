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بادرة — رفيقة ثنائية اللغة للتوعية المبكرة بمقدمات الارتعاج، مبنية على الخطورة × الموثوقية × الوقت.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ira-ai.netlify.app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41248" y="-1097280"/>
            <a:ext cx="5486400" cy="5486400"/>
          </a:xfrm>
          <a:prstGeom prst="ellipse">
            <a:avLst/>
          </a:prstGeom>
          <a:solidFill>
            <a:srgbClr val="A796B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4008" y="-320040"/>
            <a:ext cx="3886200" cy="3886200"/>
          </a:xfrm>
          <a:prstGeom prst="ellipse">
            <a:avLst/>
          </a:prstGeom>
          <a:solidFill>
            <a:srgbClr val="A796B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0936" y="384048"/>
            <a:ext cx="2487168" cy="2487168"/>
          </a:xfrm>
          <a:prstGeom prst="ellipse">
            <a:avLst/>
          </a:prstGeom>
          <a:solidFill>
            <a:srgbClr val="A796B5">
              <a:alpha val="16000"/>
            </a:srgbClr>
          </a:solidFill>
          <a:ln/>
        </p:spPr>
      </p:sp>
      <p:pic>
        <p:nvPicPr>
          <p:cNvPr id="5" name="Image 0" descr="/home/user/Start-Smart-Badira/src/assets/badira-mark-on-pl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281" y="827532"/>
            <a:ext cx="1084478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219895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3367735" y="178308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اعرفي مبكرًا.</a:t>
            </a:r>
            <a:endParaRPr lang="en-US" sz="4000" dirty="0"/>
          </a:p>
          <a:p>
            <a:pPr rtl="1" algn="r"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وتصرّفي في الوقت المناسب.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4830775" y="3840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رفيقة ثنائية اللغة للتوعية المبكرة بمقدمات الارتعاج — مبنيّة على الخطورة × الموثوقية × الوقت.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408615" y="5230368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A796B5">
              <a:alpha val="14000"/>
            </a:srgbClr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408615" y="52303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890711" y="52303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A796B5">
              <a:alpha val="14000"/>
            </a:srgbClr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90711" y="5230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الموثوقية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38567" y="5230368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A796B5">
              <a:alpha val="14000"/>
            </a:srgbClr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38567" y="5230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الوقت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85655" y="5961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BADIRA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56855" y="365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المشكلة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02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قد تمرّ مؤشرات مقدمات الارتعاج دون أن تُلاحظ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727655" y="6391656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المصدر: نموذج عمل بادرة (Business Model Canvas)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05095" y="1444752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قد تتطوّر دون أعراض واضحة — بينما تكون المعلومات التي تجدها المرأة عامة أو مبعثرة أو مؤجَّلة حتى الموعد القادم.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012119" y="2761488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012119" y="27614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٠١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63463" y="277977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الأعراض قد تكون غير واضحة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763463" y="3127248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العلامات المبكرة ليست دائمًا ظاهرة أو سهلة التفسير.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012119" y="3749040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012119" y="3749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٠٢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63463" y="376732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المعلومات ناقصة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763463" y="411480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البحث العام نادرًا ما يجمع أسبوع الحمل والتاريخ الصحي والقياسات الأخيرة معًا.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012119" y="4736592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012119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٠٣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763463" y="47548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التوقيت هو القرار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63463" y="5102352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تحتاج المرأة إلى وضوح: متى تُراقب، ومتى تتواصل مع الطبيب، ومتى تطلب رعاية عاجلة.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1481328"/>
            <a:ext cx="3703320" cy="4315968"/>
          </a:xfrm>
          <a:prstGeom prst="roundRect">
            <a:avLst>
              <a:gd name="adj" fmla="val 5432"/>
            </a:avLst>
          </a:prstGeom>
          <a:solidFill>
            <a:srgbClr val="EFE7EC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18470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الفجوة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4505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«هل أنتظر —</a:t>
            </a:r>
            <a:endParaRPr lang="en-US" sz="2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أم أتصرّف الآن؟»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554480" y="4224528"/>
            <a:ext cx="2468880" cy="0"/>
          </a:xfrm>
          <a:prstGeom prst="line">
            <a:avLst/>
          </a:prstGeom>
          <a:noFill/>
          <a:ln w="15875">
            <a:solidFill>
              <a:srgbClr val="A796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45902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صُمِّمت بادرة لتلك اللحظة من عدم اليقين.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56855" y="365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الحل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02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تقييم واحد. ثلاث قراءات.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727655" y="6391656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الصياغات مأخوذة من النموذج الأولي لبادرة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2646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تجمع بادرة سياق الحمل مع فحص صريح لاكتمال المعلومات — ثم تُوصّل درجة الأولوية دون أن تدّعي التشخيص.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9775" y="2267712"/>
            <a:ext cx="3337560" cy="246888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01223" y="2560320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38967" y="2560320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76711" y="2560320"/>
            <a:ext cx="146304" cy="146304"/>
          </a:xfrm>
          <a:prstGeom prst="ellipse">
            <a:avLst/>
          </a:prstGeom>
          <a:solidFill>
            <a:srgbClr val="3B2F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34095" y="290779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0454335" y="343814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0ECD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54335" y="34381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محاكاة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534095" y="3858768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نتيجة أولوية الفحص المعروضة لهذا التقييم.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6183" y="2267712"/>
            <a:ext cx="3337560" cy="246888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07631" y="2560320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45375" y="2560320"/>
            <a:ext cx="146304" cy="146304"/>
          </a:xfrm>
          <a:prstGeom prst="ellipse">
            <a:avLst/>
          </a:prstGeom>
          <a:solidFill>
            <a:srgbClr val="3B2F45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3119" y="2560320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40503" y="290779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الموثوقية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940503" y="345643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مقدار ما توفّر من المعلومات التي طلبتها بادرة.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72591" y="2267712"/>
            <a:ext cx="3337560" cy="246888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14039" y="2560320"/>
            <a:ext cx="146304" cy="146304"/>
          </a:xfrm>
          <a:prstGeom prst="ellipse">
            <a:avLst/>
          </a:prstGeom>
          <a:solidFill>
            <a:srgbClr val="3B2F45"/>
          </a:solidFill>
          <a:ln/>
        </p:spPr>
      </p:sp>
      <p:sp>
        <p:nvSpPr>
          <p:cNvPr id="23" name="Shape 21"/>
          <p:cNvSpPr/>
          <p:nvPr/>
        </p:nvSpPr>
        <p:spPr>
          <a:xfrm>
            <a:off x="3751783" y="2560320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989527" y="2560320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346911" y="2907792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الوقت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346911" y="345643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موضع هذا التقييم في مسار الحمل، وفق التوقيت المسجّل.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819095" y="5175504"/>
            <a:ext cx="8778240" cy="658368"/>
          </a:xfrm>
          <a:prstGeom prst="roundRect">
            <a:avLst>
              <a:gd name="adj" fmla="val 25000"/>
            </a:avLst>
          </a:prstGeom>
          <a:solidFill>
            <a:srgbClr val="E1EB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819095" y="517550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مدخلات بالعربية والإنجليزية  ←  ملخّص منظّم  ←  المشاركة مع الطبيب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598932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جسر إلى الطبيب — لا بديل عنه.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56855" y="365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المشهد التنافسي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بادرة؟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544775" y="1316736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المنصات الأوسع تغطّي الحمل كلّه. بادرة تركّز على قرار واحد — وتقول بوضوح ما لا تعرفه، بالعربية والإنجليزية.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27655" y="6391656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المصدر: مقارنة بادرة بأبرز ثلاثة منافسين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27855" y="2066544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ECE6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01007" y="206654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 BP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80767" y="2066544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ECE6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53919" y="206654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Nabta Health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3679" y="2066544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ECE6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6831" y="206654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صحتي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39535" y="1938528"/>
            <a:ext cx="2697480" cy="3639312"/>
          </a:xfrm>
          <a:prstGeom prst="roundRect">
            <a:avLst>
              <a:gd name="adj" fmla="val 7458"/>
            </a:avLst>
          </a:prstGeom>
          <a:solidFill>
            <a:srgbClr val="3B2F45"/>
          </a:solidFill>
          <a:ln/>
          <a:effectLst>
            <a:outerShdw sx="100000" sy="100000" kx="0" ky="0" algn="bl" rotWithShape="0" blurRad="279400" dist="63500" dir="5400000">
              <a:srgbClr val="241D2A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39535" y="20665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219895" y="263347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التركيز الأساسي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7855" y="2633472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01007" y="2633472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ارتفاع الضغط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80767" y="2633472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53919" y="2633472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صحة المرأة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3679" y="2633472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6831" y="2633472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الرعاية الوطنية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76695" y="2633472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مقدمات الارتعاج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51015" y="3346704"/>
            <a:ext cx="1874520" cy="0"/>
          </a:xfrm>
          <a:prstGeom prst="line">
            <a:avLst/>
          </a:prstGeom>
          <a:noFill/>
          <a:ln w="9525">
            <a:solidFill>
              <a:srgbClr val="6B57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19895" y="338328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طبقة موثوقية معلنة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27855" y="3383280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01007" y="3383280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غير موضّحة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80767" y="3383280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53919" y="3383280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ليست جوهرية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3679" y="3383280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6831" y="3383280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غير مخصّصة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76695" y="338328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عامل تمايز أساسي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751015" y="4096512"/>
            <a:ext cx="1874520" cy="0"/>
          </a:xfrm>
          <a:prstGeom prst="line">
            <a:avLst/>
          </a:prstGeom>
          <a:noFill/>
          <a:ln w="9525">
            <a:solidFill>
              <a:srgbClr val="6B578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19895" y="413308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 × الموثوقية × الوقت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327855" y="4133088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01007" y="4133088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80767" y="4133088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53919" y="4133088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3679" y="4133088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6831" y="4133088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76695" y="4133088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نعم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751015" y="4846320"/>
            <a:ext cx="1874520" cy="0"/>
          </a:xfrm>
          <a:prstGeom prst="line">
            <a:avLst/>
          </a:prstGeom>
          <a:noFill/>
          <a:ln w="9525">
            <a:solidFill>
              <a:srgbClr val="6B578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19895" y="488289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السياق العربي واللغة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327855" y="4882896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01007" y="4882896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عالمي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480767" y="4882896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553919" y="4882896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إقليمي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3679" y="4882896"/>
            <a:ext cx="1737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6831" y="4882896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عربي + إنجليزي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476695" y="4882896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ثنائية اللغة بالتصميم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94360" y="5852160"/>
            <a:ext cx="11002975" cy="365760"/>
          </a:xfrm>
          <a:prstGeom prst="roundRect">
            <a:avLst>
              <a:gd name="adj" fmla="val 25000"/>
            </a:avLst>
          </a:prstGeom>
          <a:solidFill>
            <a:srgbClr val="F3E3E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22960" y="58521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التموضع: رفيقة متخصّصة للتوعية المبكرة — لا بديل شامل عن الرعاية السريرية.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56855" y="365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بادرة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02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إجابة أدقّ على قرار محدّد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727655" y="6391656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المصدر: نموذج عمل بادرة + مقارنة المنافسين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90695" y="1426464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ميزة بادرة ليست «مزايا أكثر»، بل إطار مركَّز وصادق مبني حول التوعية المبكرة للمرأة السعودية والعربية.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22415" y="2414016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820095" y="25786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٠١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15023" y="255117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مركَّزة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15023" y="2944368"/>
            <a:ext cx="4489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التوعية بمقدمات الارتعاج هي الغرض الأساسي — لا ميزة واحدة داخل منصة واسعة.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90295" y="2414016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87975" y="25786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٠٢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2903" y="255117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صادقة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2903" y="2944368"/>
            <a:ext cx="4489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الموثوقية ظاهرة؛ والمعلومات الناقصة تستدعي أسئلة بدل يقين زائف.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22415" y="4005072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820095" y="4169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٠٣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15023" y="41422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محلّية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15023" y="4535424"/>
            <a:ext cx="4489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التواصل بالعربية والإنجليزية والسياق السعودي / العربي جزء من تصميم المنتج.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90295" y="4005072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0800" dir="5400000">
              <a:srgbClr val="241D2A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287975" y="4169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٠٤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82903" y="41422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موجّهة للفعل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2903" y="4535424"/>
            <a:ext cx="4489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تربط المخرجات بين الخطورة والتوقيت في ملخّص موجز يُشارَك مع مختص.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833872"/>
            <a:ext cx="110029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  ×  الموثوقية  ×  الوقت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56855" y="365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العرض التوضيحي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02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من الملف إلى التقييم في مسار واضح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727655" y="6391656"/>
            <a:ext cx="886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العرض التوضيحي: badira-ai.netlify.app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4754880" cy="4526280"/>
          </a:xfrm>
          <a:prstGeom prst="roundRect">
            <a:avLst>
              <a:gd name="adj" fmla="val 4848"/>
            </a:avLst>
          </a:prstGeom>
          <a:solidFill>
            <a:srgbClr val="EFE7EC"/>
          </a:solidFill>
          <a:ln/>
        </p:spPr>
      </p:sp>
      <p:pic>
        <p:nvPicPr>
          <p:cNvPr id="7" name="Image 0" descr="/tmp/claude-0/-home-user-Start-Smart-Badira/8e0a3e72-a796-5a6f-b1d5-1e7d2e3f1245/scratchpad/arppt/shots/ar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019" y="1627632"/>
            <a:ext cx="1774629" cy="3840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41D2A">
                <a:alpha val="18000"/>
              </a:srgbClr>
            </a:outerShdw>
          </a:effectLst>
        </p:spPr>
      </p:pic>
      <p:pic>
        <p:nvPicPr>
          <p:cNvPr id="8" name="Image 1" descr="/tmp/claude-0/-home-user-Start-Smart-Badira/8e0a3e72-a796-5a6f-b1d5-1e7d2e3f1245/scratchpad/arppt/shots/ar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627632"/>
            <a:ext cx="1774629" cy="3840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41D2A">
                <a:alpha val="18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658368" y="5577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النموذج الأولي الحيّ — بالعربية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1012119" y="1600200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1012119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١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49263" y="16184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تأكيد السياق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49263" y="1984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أسبوع الحمل، والتاريخ الصحي، والأعراض، والقياسات.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1012119" y="2862072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1012119" y="2862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٢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49263" y="2880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بدء التقييم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449263" y="3246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تقيّم بادرة الخطورة × الموثوقية × الوقت معًا.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11012119" y="4123944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1012119" y="41239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٣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449263" y="41422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التصرّف بوضوح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449263" y="45079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مراجعة النتيجة ومشاركة ملخّص منظّم مع مختص الرعاية الصحية.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613855" y="5413248"/>
            <a:ext cx="4983480" cy="566928"/>
          </a:xfrm>
          <a:prstGeom prst="roundRect">
            <a:avLst>
              <a:gd name="adj" fmla="val 25806"/>
            </a:avLst>
          </a:prstGeom>
          <a:solidFill>
            <a:srgbClr val="3B2F45"/>
          </a:solidFill>
          <a:ln/>
        </p:spPr>
      </p:sp>
      <p:sp>
        <p:nvSpPr>
          <p:cNvPr id="23" name="Text 19">
            <a:hlinkClick r:id="rId3" tooltip=""/>
          </p:cNvPr>
          <p:cNvSpPr txBox="1"/>
          <p:nvPr/>
        </p:nvSpPr>
        <p:spPr>
          <a:xfrm>
            <a:off x="6613855" y="54132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u="sng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افتح العرض التوضيحي لبادرة  ←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13855" y="60533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ليست تشخيصًا. تدعم بادرة الوعي المبكر.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بادرة — عرض تقديمي</dc:title>
  <dc:subject>PptxGenJS Presentation</dc:subject>
  <dc:creator>BADIRA</dc:creator>
  <cp:lastModifiedBy>BADIRA</cp:lastModifiedBy>
  <cp:revision>1</cp:revision>
  <dcterms:created xsi:type="dcterms:W3CDTF">2026-09-17T01:06:32Z</dcterms:created>
  <dcterms:modified xsi:type="dcterms:W3CDTF">2026-09-17T01:06:32Z</dcterms:modified>
</cp:coreProperties>
</file>